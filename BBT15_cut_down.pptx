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sldIdLst>
    <p:sldId id="256" r:id="rId2"/>
    <p:sldId id="308" r:id="rId3"/>
    <p:sldId id="268" r:id="rId4"/>
    <p:sldId id="266" r:id="rId5"/>
    <p:sldId id="269" r:id="rId6"/>
    <p:sldId id="287" r:id="rId7"/>
    <p:sldId id="273" r:id="rId8"/>
    <p:sldId id="293" r:id="rId9"/>
    <p:sldId id="271" r:id="rId10"/>
    <p:sldId id="296" r:id="rId11"/>
    <p:sldId id="272" r:id="rId12"/>
    <p:sldId id="294" r:id="rId13"/>
    <p:sldId id="295" r:id="rId14"/>
    <p:sldId id="274" r:id="rId15"/>
    <p:sldId id="276" r:id="rId16"/>
    <p:sldId id="263" r:id="rId17"/>
    <p:sldId id="300" r:id="rId18"/>
    <p:sldId id="291" r:id="rId19"/>
    <p:sldId id="282" r:id="rId20"/>
    <p:sldId id="278" r:id="rId21"/>
    <p:sldId id="280" r:id="rId22"/>
    <p:sldId id="288" r:id="rId23"/>
    <p:sldId id="305" r:id="rId24"/>
    <p:sldId id="284" r:id="rId25"/>
    <p:sldId id="297" r:id="rId26"/>
    <p:sldId id="298" r:id="rId27"/>
    <p:sldId id="310" r:id="rId28"/>
    <p:sldId id="313" r:id="rId29"/>
    <p:sldId id="309" r:id="rId30"/>
    <p:sldId id="312" r:id="rId31"/>
    <p:sldId id="306" r:id="rId32"/>
    <p:sldId id="304" r:id="rId33"/>
    <p:sldId id="28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24" autoAdjust="0"/>
    <p:restoredTop sz="94660"/>
  </p:normalViewPr>
  <p:slideViewPr>
    <p:cSldViewPr snapToGrid="0">
      <p:cViewPr varScale="1">
        <p:scale>
          <a:sx n="93" d="100"/>
          <a:sy n="93" d="100"/>
        </p:scale>
        <p:origin x="96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Delphi\Betadose\MCNP_fluence_dose_ICRP95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cap="none" baseline="0">
                <a:solidFill>
                  <a:schemeClr val="tx1"/>
                </a:solidFill>
              </a:rPr>
              <a:t>MCNP6.2 vs Daures </a:t>
            </a:r>
            <a:r>
              <a:rPr lang="en-US" i="1" cap="none" baseline="0">
                <a:solidFill>
                  <a:schemeClr val="tx1"/>
                </a:solidFill>
              </a:rPr>
              <a:t>et al </a:t>
            </a:r>
            <a:r>
              <a:rPr lang="en-US" cap="none" baseline="0">
                <a:solidFill>
                  <a:schemeClr val="tx1"/>
                </a:solidFill>
              </a:rPr>
              <a:t>(ICRU95)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635972510735428"/>
          <c:y val="8.0303030303030307E-2"/>
          <c:w val="0.83931465683577877"/>
          <c:h val="0.7802549860407576"/>
        </c:manualLayout>
      </c:layout>
      <c:scatterChart>
        <c:scatterStyle val="smoothMarker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Sheet1!$A$3:$A$45</c:f>
              <c:numCache>
                <c:formatCode>0.000</c:formatCode>
                <c:ptCount val="43"/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 formatCode="General">
                  <c:v>0.05</c:v>
                </c:pt>
                <c:pt idx="6" formatCode="General">
                  <c:v>0.06</c:v>
                </c:pt>
                <c:pt idx="7" formatCode="General">
                  <c:v>7.0000000000000007E-2</c:v>
                </c:pt>
                <c:pt idx="8" formatCode="General">
                  <c:v>7.4999999999999997E-2</c:v>
                </c:pt>
                <c:pt idx="9" formatCode="General">
                  <c:v>0.08</c:v>
                </c:pt>
                <c:pt idx="10" formatCode="General">
                  <c:v>8.5000000000000006E-2</c:v>
                </c:pt>
                <c:pt idx="11" formatCode="General">
                  <c:v>0.09</c:v>
                </c:pt>
                <c:pt idx="12" formatCode="General">
                  <c:v>9.5000000000000001E-2</c:v>
                </c:pt>
                <c:pt idx="13" formatCode="General">
                  <c:v>0.1</c:v>
                </c:pt>
                <c:pt idx="14" formatCode="General">
                  <c:v>0.11</c:v>
                </c:pt>
                <c:pt idx="15" formatCode="General">
                  <c:v>0.12</c:v>
                </c:pt>
                <c:pt idx="16" formatCode="General">
                  <c:v>0.13</c:v>
                </c:pt>
                <c:pt idx="17" formatCode="General">
                  <c:v>0.14000000000000001</c:v>
                </c:pt>
                <c:pt idx="18" formatCode="General">
                  <c:v>0.15</c:v>
                </c:pt>
                <c:pt idx="19" formatCode="General">
                  <c:v>0.16</c:v>
                </c:pt>
                <c:pt idx="20" formatCode="General">
                  <c:v>0.17</c:v>
                </c:pt>
                <c:pt idx="21" formatCode="General">
                  <c:v>0.2</c:v>
                </c:pt>
                <c:pt idx="22" formatCode="General">
                  <c:v>0.25</c:v>
                </c:pt>
                <c:pt idx="23" formatCode="General">
                  <c:v>0.3</c:v>
                </c:pt>
                <c:pt idx="24" formatCode="General">
                  <c:v>0.35</c:v>
                </c:pt>
                <c:pt idx="25" formatCode="General">
                  <c:v>0.4</c:v>
                </c:pt>
                <c:pt idx="26" formatCode="General">
                  <c:v>0.45</c:v>
                </c:pt>
                <c:pt idx="27" formatCode="General">
                  <c:v>0.5</c:v>
                </c:pt>
                <c:pt idx="28" formatCode="General">
                  <c:v>0.55000000000000004</c:v>
                </c:pt>
                <c:pt idx="29" formatCode="General">
                  <c:v>0.6</c:v>
                </c:pt>
                <c:pt idx="30" formatCode="General">
                  <c:v>0.65</c:v>
                </c:pt>
                <c:pt idx="31" formatCode="General">
                  <c:v>0.7</c:v>
                </c:pt>
                <c:pt idx="32" formatCode="General">
                  <c:v>0.75</c:v>
                </c:pt>
                <c:pt idx="33" formatCode="General">
                  <c:v>0.8</c:v>
                </c:pt>
                <c:pt idx="34" formatCode="General">
                  <c:v>0.85</c:v>
                </c:pt>
                <c:pt idx="35" formatCode="General">
                  <c:v>0.9</c:v>
                </c:pt>
                <c:pt idx="36" formatCode="General">
                  <c:v>0.95</c:v>
                </c:pt>
                <c:pt idx="37" formatCode="General">
                  <c:v>1</c:v>
                </c:pt>
                <c:pt idx="38" formatCode="General">
                  <c:v>2</c:v>
                </c:pt>
                <c:pt idx="39" formatCode="General">
                  <c:v>3</c:v>
                </c:pt>
                <c:pt idx="40" formatCode="General">
                  <c:v>4</c:v>
                </c:pt>
                <c:pt idx="41" formatCode="General">
                  <c:v>5</c:v>
                </c:pt>
                <c:pt idx="42" formatCode="General">
                  <c:v>10</c:v>
                </c:pt>
              </c:numCache>
            </c:numRef>
          </c:xVal>
          <c:yVal>
            <c:numRef>
              <c:f>Sheet1!$B$3:$B$45</c:f>
              <c:numCache>
                <c:formatCode>General</c:formatCode>
                <c:ptCount val="4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 formatCode="0.00">
                  <c:v>0</c:v>
                </c:pt>
                <c:pt idx="6" formatCode="0.00">
                  <c:v>10</c:v>
                </c:pt>
                <c:pt idx="7" formatCode="0.00">
                  <c:v>237</c:v>
                </c:pt>
                <c:pt idx="8" formatCode="0.00">
                  <c:v>454</c:v>
                </c:pt>
                <c:pt idx="9" formatCode="0.00">
                  <c:v>700</c:v>
                </c:pt>
                <c:pt idx="10" formatCode="0.00">
                  <c:v>954</c:v>
                </c:pt>
                <c:pt idx="11" formatCode="0.00">
                  <c:v>1193</c:v>
                </c:pt>
                <c:pt idx="12" formatCode="0.00">
                  <c:v>1376</c:v>
                </c:pt>
                <c:pt idx="13" formatCode="0.00">
                  <c:v>1495</c:v>
                </c:pt>
                <c:pt idx="14" formatCode="0.00">
                  <c:v>1561</c:v>
                </c:pt>
                <c:pt idx="15" formatCode="0.00">
                  <c:v>1500</c:v>
                </c:pt>
                <c:pt idx="16" formatCode="0.00">
                  <c:v>1384</c:v>
                </c:pt>
                <c:pt idx="17" formatCode="0.00">
                  <c:v>1260</c:v>
                </c:pt>
                <c:pt idx="18" formatCode="0.00">
                  <c:v>1139</c:v>
                </c:pt>
                <c:pt idx="19" formatCode="0.00">
                  <c:v>1034</c:v>
                </c:pt>
                <c:pt idx="20" formatCode="0.00">
                  <c:v>965</c:v>
                </c:pt>
                <c:pt idx="21" formatCode="0.00">
                  <c:v>819</c:v>
                </c:pt>
                <c:pt idx="22" formatCode="0.00">
                  <c:v>658</c:v>
                </c:pt>
                <c:pt idx="23" formatCode="0.00">
                  <c:v>559</c:v>
                </c:pt>
                <c:pt idx="24" formatCode="0.00">
                  <c:v>497</c:v>
                </c:pt>
                <c:pt idx="25" formatCode="0.00">
                  <c:v>452</c:v>
                </c:pt>
                <c:pt idx="26" formatCode="0.00">
                  <c:v>421</c:v>
                </c:pt>
                <c:pt idx="27" formatCode="0.00">
                  <c:v>400</c:v>
                </c:pt>
                <c:pt idx="28" formatCode="0.00">
                  <c:v>381</c:v>
                </c:pt>
                <c:pt idx="29" formatCode="0.00">
                  <c:v>367</c:v>
                </c:pt>
                <c:pt idx="30" formatCode="0.00">
                  <c:v>358</c:v>
                </c:pt>
                <c:pt idx="31" formatCode="0.00">
                  <c:v>349</c:v>
                </c:pt>
                <c:pt idx="32" formatCode="0.00">
                  <c:v>341</c:v>
                </c:pt>
                <c:pt idx="33" formatCode="0.00">
                  <c:v>334</c:v>
                </c:pt>
                <c:pt idx="34" formatCode="0.00">
                  <c:v>327</c:v>
                </c:pt>
                <c:pt idx="35" formatCode="0.00">
                  <c:v>323</c:v>
                </c:pt>
                <c:pt idx="36" formatCode="0.00">
                  <c:v>317</c:v>
                </c:pt>
                <c:pt idx="37" formatCode="0.00">
                  <c:v>315</c:v>
                </c:pt>
                <c:pt idx="38" formatCode="0.00">
                  <c:v>286</c:v>
                </c:pt>
                <c:pt idx="39" formatCode="0.00">
                  <c:v>280</c:v>
                </c:pt>
                <c:pt idx="40" formatCode="0.00">
                  <c:v>279</c:v>
                </c:pt>
                <c:pt idx="41" formatCode="0.00">
                  <c:v>270</c:v>
                </c:pt>
                <c:pt idx="42" formatCode="0.00">
                  <c:v>260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03C-46D5-A561-2F871C2AB889}"/>
            </c:ext>
          </c:extLst>
        </c:ser>
        <c:ser>
          <c:idx val="1"/>
          <c:order val="1"/>
          <c:tx>
            <c:v>ICRU95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</a:ln>
              <a:effectLst/>
            </c:spPr>
          </c:marker>
          <c:xVal>
            <c:numRef>
              <c:f>Sheet1!$D$3:$D$19</c:f>
              <c:numCache>
                <c:formatCode>0.000</c:formatCode>
                <c:ptCount val="17"/>
                <c:pt idx="1">
                  <c:v>0.01</c:v>
                </c:pt>
                <c:pt idx="2">
                  <c:v>0.02</c:v>
                </c:pt>
                <c:pt idx="3" formatCode="General">
                  <c:v>0.05</c:v>
                </c:pt>
                <c:pt idx="4" formatCode="General">
                  <c:v>0.06</c:v>
                </c:pt>
                <c:pt idx="5" formatCode="General">
                  <c:v>7.0000000000000007E-2</c:v>
                </c:pt>
                <c:pt idx="6" formatCode="General">
                  <c:v>0.08</c:v>
                </c:pt>
                <c:pt idx="7" formatCode="General">
                  <c:v>0.09</c:v>
                </c:pt>
                <c:pt idx="8" formatCode="General">
                  <c:v>0.1</c:v>
                </c:pt>
                <c:pt idx="9" formatCode="General">
                  <c:v>0.11</c:v>
                </c:pt>
                <c:pt idx="10" formatCode="General">
                  <c:v>0.12</c:v>
                </c:pt>
                <c:pt idx="11" formatCode="General">
                  <c:v>0.15</c:v>
                </c:pt>
                <c:pt idx="12" formatCode="General">
                  <c:v>0.2</c:v>
                </c:pt>
                <c:pt idx="13" formatCode="General">
                  <c:v>0.3</c:v>
                </c:pt>
                <c:pt idx="14" formatCode="General">
                  <c:v>0.5</c:v>
                </c:pt>
                <c:pt idx="15" formatCode="General">
                  <c:v>1</c:v>
                </c:pt>
                <c:pt idx="16" formatCode="General">
                  <c:v>10</c:v>
                </c:pt>
              </c:numCache>
            </c:numRef>
          </c:xVal>
          <c:yVal>
            <c:numRef>
              <c:f>Sheet1!$E$3:$E$19</c:f>
              <c:numCache>
                <c:formatCode>0.00E+00</c:formatCode>
                <c:ptCount val="17"/>
                <c:pt idx="1">
                  <c:v>1.1800000000000001E-3</c:v>
                </c:pt>
                <c:pt idx="2">
                  <c:v>2.1000000000000001E-4</c:v>
                </c:pt>
                <c:pt idx="3">
                  <c:v>1.6199999999999999E-2</c:v>
                </c:pt>
                <c:pt idx="4">
                  <c:v>13.9</c:v>
                </c:pt>
                <c:pt idx="5">
                  <c:v>222</c:v>
                </c:pt>
                <c:pt idx="6">
                  <c:v>663</c:v>
                </c:pt>
                <c:pt idx="7">
                  <c:v>1100</c:v>
                </c:pt>
                <c:pt idx="8">
                  <c:v>1400</c:v>
                </c:pt>
                <c:pt idx="9">
                  <c:v>1510</c:v>
                </c:pt>
                <c:pt idx="10">
                  <c:v>1490</c:v>
                </c:pt>
                <c:pt idx="11">
                  <c:v>1210</c:v>
                </c:pt>
                <c:pt idx="12">
                  <c:v>843</c:v>
                </c:pt>
                <c:pt idx="13">
                  <c:v>544</c:v>
                </c:pt>
                <c:pt idx="14">
                  <c:v>386</c:v>
                </c:pt>
                <c:pt idx="15">
                  <c:v>307</c:v>
                </c:pt>
                <c:pt idx="16">
                  <c:v>273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03C-46D5-A561-2F871C2AB8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10697423"/>
        <c:axId val="610697839"/>
      </c:scatterChart>
      <c:valAx>
        <c:axId val="610697423"/>
        <c:scaling>
          <c:logBase val="10"/>
          <c:orientation val="minMax"/>
        </c:scaling>
        <c:delete val="0"/>
        <c:axPos val="b"/>
        <c:majorGridlines>
          <c:spPr>
            <a:ln w="222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cap="all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cap="none" baseline="0">
                    <a:solidFill>
                      <a:schemeClr val="tx1"/>
                    </a:solidFill>
                  </a:rPr>
                  <a:t>Electron energy / MeV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cap="all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cap="all" spc="12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0697839"/>
        <c:crossesAt val="0.1"/>
        <c:crossBetween val="midCat"/>
        <c:majorUnit val="1"/>
        <c:minorUnit val="0.1"/>
      </c:valAx>
      <c:valAx>
        <c:axId val="610697839"/>
        <c:scaling>
          <c:orientation val="minMax"/>
          <c:min val="0"/>
        </c:scaling>
        <c:delete val="0"/>
        <c:axPos val="l"/>
        <c:majorGridlines>
          <c:spPr>
            <a:ln w="2540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cap="all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800" cap="none" baseline="0" dirty="0" err="1">
                    <a:solidFill>
                      <a:schemeClr val="tx1"/>
                    </a:solidFill>
                  </a:rPr>
                  <a:t>pGy</a:t>
                </a:r>
                <a:r>
                  <a:rPr lang="en-GB" sz="1800" cap="none" baseline="0" dirty="0">
                    <a:solidFill>
                      <a:schemeClr val="tx1"/>
                    </a:solidFill>
                  </a:rPr>
                  <a:t> cm</a:t>
                </a:r>
                <a:r>
                  <a:rPr lang="en-GB" sz="1800" cap="none" baseline="30000" dirty="0">
                    <a:solidFill>
                      <a:schemeClr val="tx1"/>
                    </a:solidFill>
                  </a:rPr>
                  <a:t>2</a:t>
                </a:r>
              </a:p>
            </c:rich>
          </c:tx>
          <c:layout>
            <c:manualLayout>
              <c:xMode val="edge"/>
              <c:yMode val="edge"/>
              <c:x val="1.8960722975321514E-2"/>
              <c:y val="0.3970163164317835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cap="all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0697423"/>
        <c:crossesAt val="1.0000000000000002E-2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F3553-BE90-440A-A2F5-E3A415E15376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0C121-ECCD-48FB-BA3A-FA854AB754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2001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.w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AAC09-E0E8-42EC-87C7-D91AEA8BE5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28128"/>
            <a:ext cx="9144000" cy="1175360"/>
          </a:xfrm>
        </p:spPr>
        <p:txBody>
          <a:bodyPr anchor="b">
            <a:normAutofit/>
          </a:bodyPr>
          <a:lstStyle>
            <a:lvl1pPr algn="ctr">
              <a:defRPr sz="48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A57B27-B1D3-4044-9634-288CC80B83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1C220-5641-4EFF-ACD8-65C201465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5EFE0-C5B8-4451-AD5C-FEE7B3420DF9}" type="datetime1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1AB4D-6355-4D05-B8C2-516AED677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A9BC6-363E-4AC8-A0DA-EC89F0D8A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‹#›</a:t>
            </a:fld>
            <a:endParaRPr lang="en-GB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CCD769AF-9C32-401B-8E21-C301D091232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2739253416"/>
              </p:ext>
            </p:extLst>
          </p:nvPr>
        </p:nvGraphicFramePr>
        <p:xfrm>
          <a:off x="2" y="0"/>
          <a:ext cx="1195916" cy="1196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8" name="Microsoft Word Document" r:id="rId3" imgW="896874" imgH="914400" progId="Word.Document.8">
                  <p:embed/>
                </p:oleObj>
              </mc:Choice>
              <mc:Fallback>
                <p:oleObj name="Microsoft Word Document" r:id="rId3" imgW="896874" imgH="914400" progId="Word.Document.8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E9CE785C-1780-4120-AB9B-A9D0F0F0A8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195916" cy="11967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7475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1B983-2741-4312-8D07-757BB6EAC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E4FF9-A135-4630-BBF3-E9080B5C7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52215-6170-4608-BF4F-634B5870F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A5573-9229-4E1A-838D-D00F9A4360A3}" type="datetime1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6C172-A3AE-4DB6-AA78-069F55BCC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E2590-CB29-493E-B429-DBE43680F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42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2B52-BB5C-4494-B6BB-A418EAC21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5E95C-705C-4802-A923-5040A41EE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A0AB7-CDAE-438C-AF34-0E5F714CE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D3C79-2C54-4C4C-8CF1-569A40654D97}" type="datetime1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4D460-062E-4307-8F54-2AE376CE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E1E86-2503-4CC4-BCC2-93B335B5B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9066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0B833-D650-47A2-B0C7-936A036FE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E18DD-3B54-4A5A-897B-FCFAD143DF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E9430D-BB84-4F3B-B2E4-C26029740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A020F-7673-4011-8EE0-330595085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BBCDC-E76F-44CF-B638-2859BDF7386D}" type="datetime1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9C3B11-7443-4AB2-A856-202884DF1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0990F4-7885-4478-A664-9411189E7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2305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E3593-B5AD-4C6B-8152-F5B74D87F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277FF-A2AE-43D8-B435-76426265A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50A737-E3A4-4FF7-BF2E-4DF03FC126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F8CAA8-B517-468F-8E34-73951D6717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F37A0-BF57-4EA5-8676-3BF9F655C5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ABC813-265B-4BEB-9B07-83F16DE36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CBC4C-AB60-4361-872E-F3205C6D33E4}" type="datetime1">
              <a:rPr lang="en-GB" smtClean="0"/>
              <a:t>14/09/2026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0655DA-9C85-4173-BA81-8A38EFE96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DD4A1F-FC32-4467-9B6F-924489111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798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0A94E-90A4-41C1-804A-396649F7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0F8CCB-2464-4E51-8080-B6243DB4A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46D02-9A8D-42A6-B224-298177678EB1}" type="datetime1">
              <a:rPr lang="en-GB" smtClean="0"/>
              <a:t>14/09/2026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42261C-0FA1-4EF3-95EA-EF8DB35D1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31781E-C4D7-41CA-BC6D-0826AF005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596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9D0F25-2BEA-4A95-B54E-E7FA139C0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8E29B-ECC2-4C79-8F0F-EDEAA2D9D1B9}" type="datetime1">
              <a:rPr lang="en-GB" smtClean="0"/>
              <a:t>14/09/2026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32FD6F-F8C2-4F76-BF4C-D59D6D512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669CD-F417-46C4-A192-820E9E51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1692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53377-5AA1-4155-A269-6652E8D38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D343C-76DA-47A7-822C-5B0EC6D5C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71C456-246B-4BCD-812D-935331E58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6B521-8131-4011-8DE7-68D687FEE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1AE7A-ADA2-447D-979C-8DB4874237CB}" type="datetime1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E4971-E51A-426A-836B-3E2BD9C1E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6582E6-DA53-4865-B166-81A570F3C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5812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A3683-597F-47A1-9D83-F256D1C8B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380AF8-83FB-4D76-9BDD-548F1C482C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A2F881-CA45-4641-86D1-0F2260C4B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CA07F-6A61-403E-9D1D-F64BE28E8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46100-BBBF-4EE9-82BD-EFE17F6BE9B5}" type="datetime1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50418-4318-4642-AAB0-B84A8B2BE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B7634-B5E1-47A3-A701-D6BD41404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2903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3714E-2169-40EA-950C-79BA31644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EF1902-6DE6-4BD7-972C-B8F4615E5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41EB2-0FF5-4F5E-9897-F90C50DFE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F870E-92A5-4B36-9368-4A34577A333B}" type="datetime1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DB721-592C-4DE8-9822-5739B04E8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3DEE-99B6-4C4D-A442-A00BC5A3A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343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DD200E-5965-466E-BEAE-246A93A410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C46764-4B0B-4795-A59E-E9F86B3D6D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955D7-536A-45BC-A59C-012119D1C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0EC4E-D5EE-4678-AAEA-F445329A1169}" type="datetime1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EC737-ABC8-4AB4-92C9-1EBE6C680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B84B7-00C2-4540-A6FE-85DEFFCC0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851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691308-C65A-4B5C-A394-AB83B908F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4B086-3E7B-45BC-A283-1B8F07DEA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2EE50-6457-45ED-8AF7-4C8FBC7A2A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64DF32-B2A7-4EE3-81DB-65AB7A37A594}" type="datetime1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F1440-0DBC-4F36-B123-C697EDBA0A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2DAC9-ADF7-48E7-B814-9C9491A03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D802E-C813-4103-8795-DEF44102151F}" type="slidenum">
              <a:rPr lang="en-GB" smtClean="0"/>
              <a:t>‹#›</a:t>
            </a:fld>
            <a:endParaRPr lang="en-GB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FBC12FB6-69C7-4F74-A567-4677F7E096E4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2739253416"/>
              </p:ext>
            </p:extLst>
          </p:nvPr>
        </p:nvGraphicFramePr>
        <p:xfrm>
          <a:off x="2" y="0"/>
          <a:ext cx="1195916" cy="1196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4" name="Microsoft Word Document" r:id="rId14" imgW="896874" imgH="914400" progId="Word.Document.8">
                  <p:embed/>
                </p:oleObj>
              </mc:Choice>
              <mc:Fallback>
                <p:oleObj name="Microsoft Word Document" r:id="rId14" imgW="896874" imgH="914400" progId="Word.Document.8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E9CE785C-1780-4120-AB9B-A9D0F0F0A8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195916" cy="11967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0369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2466342-CFB2-443C-A65F-3C049902DC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2084" y="5365856"/>
            <a:ext cx="5451231" cy="815105"/>
          </a:xfrm>
        </p:spPr>
        <p:txBody>
          <a:bodyPr>
            <a:normAutofit/>
          </a:bodyPr>
          <a:lstStyle/>
          <a:p>
            <a:r>
              <a:rPr lang="en-GB" dirty="0"/>
              <a:t>ralph.whitcher@cleapss.org.uk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C45971-736F-4005-BF42-080D15ED4E0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666" y="411231"/>
            <a:ext cx="10965304" cy="30695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637F11-2404-4DD9-B283-32EE054EDF01}"/>
              </a:ext>
            </a:extLst>
          </p:cNvPr>
          <p:cNvSpPr txBox="1"/>
          <p:nvPr/>
        </p:nvSpPr>
        <p:spPr>
          <a:xfrm>
            <a:off x="687723" y="3830051"/>
            <a:ext cx="90819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Skin and extremity dose rates from external beta sources not close to the skin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30A83-ACF8-4783-AA40-7883AA29F430}"/>
              </a:ext>
            </a:extLst>
          </p:cNvPr>
          <p:cNvSpPr txBox="1"/>
          <p:nvPr/>
        </p:nvSpPr>
        <p:spPr>
          <a:xfrm>
            <a:off x="8949290" y="5563356"/>
            <a:ext cx="24756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44 slides:</a:t>
            </a:r>
          </a:p>
          <a:p>
            <a:pPr algn="ctr"/>
            <a:r>
              <a:rPr lang="en-GB" sz="2400" dirty="0"/>
              <a:t>Why: How: Where</a:t>
            </a:r>
          </a:p>
        </p:txBody>
      </p:sp>
    </p:spTree>
    <p:extLst>
      <p:ext uri="{BB962C8B-B14F-4D97-AF65-F5344CB8AC3E}">
        <p14:creationId xmlns:p14="http://schemas.microsoft.com/office/powerpoint/2010/main" val="3420587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835CF-F3F8-4A7D-BD6E-6779C1E63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578" y="84866"/>
            <a:ext cx="10515600" cy="1325563"/>
          </a:xfrm>
        </p:spPr>
        <p:txBody>
          <a:bodyPr/>
          <a:lstStyle/>
          <a:p>
            <a:r>
              <a:rPr lang="en-US" dirty="0"/>
              <a:t>Meeting IRR17 requirements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C84A8-EA26-4C86-83AE-77FE70478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051" y="1176518"/>
            <a:ext cx="10515600" cy="34409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if you have a beta source, you’ll probably want to </a:t>
            </a:r>
            <a:r>
              <a:rPr lang="en-US" i="1" dirty="0"/>
              <a:t>anticipate</a:t>
            </a:r>
            <a:r>
              <a:rPr lang="en-US" dirty="0"/>
              <a:t> likely skin and extremity dose rates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     (reg 8) as part of your initial risk assessment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     (reg 8) modelling foreseeable accidents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     (reg 9) quantitatively comparing alternative arrangements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     (reg 24/26) retrospective dose reconstruction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… and others.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A9EA45-8F2E-456B-822F-DD44A03FD3E5}"/>
              </a:ext>
            </a:extLst>
          </p:cNvPr>
          <p:cNvSpPr txBox="1"/>
          <p:nvPr/>
        </p:nvSpPr>
        <p:spPr>
          <a:xfrm>
            <a:off x="1574246" y="5031993"/>
            <a:ext cx="6065425" cy="909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Varskin</a:t>
            </a:r>
            <a:r>
              <a:rPr lang="en-US" sz="2800" dirty="0"/>
              <a:t> is the go-to for close skin contact, but what about &gt; 20 cm away</a:t>
            </a:r>
            <a:endParaRPr lang="en-GB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0F041-34FA-41DE-BF6A-F5CC46266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708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F081C-A3EC-4D76-908D-D2D03F835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679" y="387742"/>
            <a:ext cx="11652055" cy="1164480"/>
          </a:xfrm>
        </p:spPr>
        <p:txBody>
          <a:bodyPr>
            <a:normAutofit/>
          </a:bodyPr>
          <a:lstStyle/>
          <a:p>
            <a:r>
              <a:rPr lang="en-US" sz="3200" dirty="0"/>
              <a:t>How: IRR17 doesn't specify any dose measurement/estimation physics</a:t>
            </a:r>
            <a:endParaRPr lang="en-GB" sz="3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6E58E82-76B6-4279-9C37-4124A8FB4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322" y="2231917"/>
            <a:ext cx="5989584" cy="1847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ICRP: The equivalent dose at 0.07 mm skin depth averaged over any 1 cm</a:t>
            </a:r>
            <a:r>
              <a:rPr lang="en-US" sz="2400" baseline="30000" dirty="0"/>
              <a:t>2</a:t>
            </a:r>
            <a:r>
              <a:rPr lang="en-US" sz="2400" dirty="0"/>
              <a:t> of the skin, regardless of the area exposed. </a:t>
            </a:r>
            <a:r>
              <a:rPr lang="en-US" sz="2400" b="1" dirty="0"/>
              <a:t>But not directly measurable.</a:t>
            </a:r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153033-75B7-4884-9C44-3FB19871481F}"/>
              </a:ext>
            </a:extLst>
          </p:cNvPr>
          <p:cNvSpPr txBox="1"/>
          <p:nvPr/>
        </p:nvSpPr>
        <p:spPr>
          <a:xfrm>
            <a:off x="5279322" y="4900598"/>
            <a:ext cx="63758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IRR17 guidance says the measurable stand-in, ICRU Hp(d), can be used to demonstrate compliance with dose limits. (L121 Appendix 2)</a:t>
            </a:r>
            <a:endParaRPr lang="en-GB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D37101-81BD-4192-93A9-1711ED54C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966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79268-7A79-4C1B-B29F-CB904B206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715703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So what’s available for straightforward beta-at-a-distance skin-dose prediction [Hp(0.07)] 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133A0-DB77-4E43-808A-82318EEE0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583" y="1981457"/>
            <a:ext cx="7816549" cy="3400901"/>
          </a:xfrm>
        </p:spPr>
        <p:txBody>
          <a:bodyPr>
            <a:normAutofit/>
          </a:bodyPr>
          <a:lstStyle/>
          <a:p>
            <a:pPr marL="144000" indent="-457200">
              <a:lnSpc>
                <a:spcPct val="100000"/>
              </a:lnSpc>
              <a:buNone/>
            </a:pPr>
            <a:r>
              <a:rPr lang="en-US" dirty="0"/>
              <a:t>1. </a:t>
            </a:r>
            <a:r>
              <a:rPr lang="en-US" b="1" dirty="0">
                <a:solidFill>
                  <a:srgbClr val="0070C0"/>
                </a:solidFill>
              </a:rPr>
              <a:t>D ≈ 7.5 x 10</a:t>
            </a:r>
            <a:r>
              <a:rPr lang="en-US" b="1" baseline="30000" dirty="0">
                <a:solidFill>
                  <a:srgbClr val="0070C0"/>
                </a:solidFill>
              </a:rPr>
              <a:t>-12</a:t>
            </a:r>
            <a:r>
              <a:rPr lang="en-US" b="1" dirty="0">
                <a:solidFill>
                  <a:srgbClr val="0070C0"/>
                </a:solidFill>
              </a:rPr>
              <a:t> A/d² </a:t>
            </a:r>
            <a:r>
              <a:rPr lang="en-US" b="1" dirty="0" err="1">
                <a:solidFill>
                  <a:srgbClr val="0070C0"/>
                </a:solidFill>
              </a:rPr>
              <a:t>Gy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hr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dirty="0"/>
              <a:t>(d in m, A in </a:t>
            </a:r>
            <a:r>
              <a:rPr lang="en-US" dirty="0" err="1"/>
              <a:t>Bq</a:t>
            </a:r>
            <a:r>
              <a:rPr lang="en-US" dirty="0"/>
              <a:t>). </a:t>
            </a:r>
            <a:r>
              <a:rPr lang="en-US" sz="2000" dirty="0"/>
              <a:t>Quick &amp; dirty absorbed dose rates, a 1970s-vintage precursor to Hp(0.07), an energy-independent approximation</a:t>
            </a:r>
          </a:p>
          <a:p>
            <a:pPr marL="144000" indent="-45720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dirty="0"/>
              <a:t>2. </a:t>
            </a:r>
            <a:r>
              <a:rPr lang="en-US" b="1" dirty="0">
                <a:solidFill>
                  <a:srgbClr val="0070C0"/>
                </a:solidFill>
              </a:rPr>
              <a:t>Delacroix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at 30 cm</a:t>
            </a:r>
            <a:r>
              <a:rPr lang="en-US" dirty="0"/>
              <a:t>, </a:t>
            </a:r>
            <a:r>
              <a:rPr lang="en-US" sz="2000" dirty="0"/>
              <a:t>inverse square law for other distances</a:t>
            </a:r>
            <a:r>
              <a:rPr lang="en-GB" sz="2000" dirty="0"/>
              <a:t>. Based on </a:t>
            </a:r>
            <a:r>
              <a:rPr lang="en-GB" sz="2000" dirty="0" err="1"/>
              <a:t>Varskin</a:t>
            </a:r>
            <a:r>
              <a:rPr lang="en-GB" sz="2000" dirty="0"/>
              <a:t> (1992) (known to be iffy). Stated as Hp(0.07)</a:t>
            </a:r>
          </a:p>
          <a:p>
            <a:pPr marL="144000" indent="-45720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GB" dirty="0"/>
              <a:t>3. </a:t>
            </a:r>
            <a:r>
              <a:rPr lang="en-GB" b="1" dirty="0">
                <a:solidFill>
                  <a:srgbClr val="0070C0"/>
                </a:solidFill>
              </a:rPr>
              <a:t>Online calculators</a:t>
            </a:r>
            <a:r>
              <a:rPr lang="en-GB" dirty="0"/>
              <a:t>. </a:t>
            </a:r>
            <a:r>
              <a:rPr lang="en-GB" sz="2000" dirty="0"/>
              <a:t>Commonly traced to Cross </a:t>
            </a:r>
            <a:r>
              <a:rPr lang="en-GB" sz="2000" i="1" dirty="0"/>
              <a:t>et al. </a:t>
            </a:r>
            <a:r>
              <a:rPr lang="en-US" sz="2000" i="1" dirty="0"/>
              <a:t>If it’s Cross et al. (1982), these are not actually Hp​(0.07) estimates. They are absorbed-dose rates calculated for homogeneous media.</a:t>
            </a:r>
            <a:endParaRPr lang="en-GB" sz="2000" i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EC43C27-018B-4025-A7BE-4FEEF32EF869}"/>
              </a:ext>
            </a:extLst>
          </p:cNvPr>
          <p:cNvSpPr txBox="1">
            <a:spLocks/>
          </p:cNvSpPr>
          <p:nvPr/>
        </p:nvSpPr>
        <p:spPr>
          <a:xfrm>
            <a:off x="838200" y="3743763"/>
            <a:ext cx="8069317" cy="2218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AB19BE7-6647-4F2D-8ADF-852E4C0B4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5746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F081C-A3EC-4D76-908D-D2D03F835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How good are these prediction methods? </a:t>
            </a:r>
            <a:endParaRPr lang="en-GB" sz="32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C89A3B-C8AB-4BC1-A7D8-3B0053D8F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9887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benchmark is Monte Carlo modelling using a reference computational tissue slab, a computational ‘phantom’. 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67E2DD-9D86-4195-A1B5-BA8644579127}"/>
              </a:ext>
            </a:extLst>
          </p:cNvPr>
          <p:cNvSpPr txBox="1"/>
          <p:nvPr/>
        </p:nvSpPr>
        <p:spPr>
          <a:xfrm>
            <a:off x="3117923" y="3071909"/>
            <a:ext cx="479303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/>
              <a:t>There is more than one reference computational phantom!</a:t>
            </a:r>
          </a:p>
          <a:p>
            <a:pPr marL="342900" indent="-342900">
              <a:buAutoNum type="arabicPeriod"/>
            </a:pPr>
            <a:endParaRPr lang="en-US" sz="2400" dirty="0"/>
          </a:p>
          <a:p>
            <a:pPr marL="342900" indent="-342900">
              <a:buAutoNum type="arabicPeriod"/>
            </a:pPr>
            <a:r>
              <a:rPr lang="en-US" sz="2400" dirty="0"/>
              <a:t>Monte Carlo modelling is not ‘plug and play’. Probably quicker to solve cold nuclear fusion in your garage…..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265A2-93B0-4414-9615-1E381820E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3226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4AA20-4B43-452B-ADED-08B8D1491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9590" y="643027"/>
            <a:ext cx="4266832" cy="1613448"/>
          </a:xfrm>
        </p:spPr>
        <p:txBody>
          <a:bodyPr>
            <a:normAutofit/>
          </a:bodyPr>
          <a:lstStyle/>
          <a:p>
            <a:r>
              <a:rPr lang="en-US" sz="3200" dirty="0"/>
              <a:t>ICRU95/ICRP Skin tissue (trunk) computational phantom</a:t>
            </a:r>
            <a:endParaRPr lang="en-GB" sz="32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9217CB-53C1-4DED-BB33-8742045BCEBA}"/>
              </a:ext>
            </a:extLst>
          </p:cNvPr>
          <p:cNvSpPr txBox="1">
            <a:spLocks/>
          </p:cNvSpPr>
          <p:nvPr/>
        </p:nvSpPr>
        <p:spPr>
          <a:xfrm>
            <a:off x="1094510" y="643027"/>
            <a:ext cx="4175759" cy="1613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3200" dirty="0"/>
              <a:t>ICRU57 Skin tissue computational phantom</a:t>
            </a:r>
            <a:endParaRPr lang="en-GB" sz="32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2FC60F9-3D5C-43D2-A07F-8F3AA99772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575" y="2431201"/>
            <a:ext cx="6397613" cy="4204974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2F01310-6C4D-45DF-9083-57052D58545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05" y="2256475"/>
            <a:ext cx="4113839" cy="395849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324574-8DFA-475C-8A4A-569230395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6543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E0968-B3A2-48E5-BFE7-A14E9F374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nuclear particle transport MC toolkits (</a:t>
            </a:r>
            <a:r>
              <a:rPr lang="en-US" dirty="0" err="1"/>
              <a:t>n.b.</a:t>
            </a:r>
            <a:r>
              <a:rPr lang="en-US" dirty="0"/>
              <a:t> they’re not standalone programs)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BF830-8EBA-4CCF-A44B-E536C0105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593" y="2141537"/>
            <a:ext cx="7162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MCNP6 - Los Alamos National Laboratory, United States. Export-controlled. DOS-like.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EGSnrc</a:t>
            </a:r>
            <a:r>
              <a:rPr lang="en-US" dirty="0"/>
              <a:t> - National Research Council </a:t>
            </a:r>
            <a:br>
              <a:rPr lang="en-US" dirty="0"/>
            </a:br>
            <a:r>
              <a:rPr lang="en-US" dirty="0"/>
              <a:t>Canada. Open source, has to be compiled.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Geant4 - International Geant4 Collaboration group. Open source, hosted by CERN. It’s a C++ based toolkit.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7E4AA-EB2C-413A-9EED-EA372F741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5835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44CEF01-1392-4BF7-B25D-8B26C2A11D8B}"/>
              </a:ext>
            </a:extLst>
          </p:cNvPr>
          <p:cNvSpPr txBox="1">
            <a:spLocks/>
          </p:cNvSpPr>
          <p:nvPr/>
        </p:nvSpPr>
        <p:spPr>
          <a:xfrm>
            <a:off x="899936" y="1995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Comparison with MCNP6.2/ICRU 95 skin tissue phantom</a:t>
            </a:r>
            <a:endParaRPr lang="en-GB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0438B6-0200-451F-ADF7-E5271FF252C7}"/>
              </a:ext>
            </a:extLst>
          </p:cNvPr>
          <p:cNvSpPr txBox="1"/>
          <p:nvPr/>
        </p:nvSpPr>
        <p:spPr>
          <a:xfrm>
            <a:off x="1240664" y="1495687"/>
            <a:ext cx="8623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10 MBq P-32 point source dose rate (µ</a:t>
            </a:r>
            <a:r>
              <a:rPr lang="en-US" sz="2400" dirty="0" err="1"/>
              <a:t>Sv</a:t>
            </a:r>
            <a:r>
              <a:rPr lang="en-US" sz="2400" dirty="0"/>
              <a:t>/h) (Emax 1.7107 MeV) </a:t>
            </a:r>
          </a:p>
          <a:p>
            <a:pPr algn="ctr"/>
            <a:r>
              <a:rPr lang="en-US" sz="2400" dirty="0"/>
              <a:t>[Dose: Hp(0.07)]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E4EBA2-32DD-4558-A4C2-6EE6C229A9C1}"/>
              </a:ext>
            </a:extLst>
          </p:cNvPr>
          <p:cNvSpPr txBox="1"/>
          <p:nvPr/>
        </p:nvSpPr>
        <p:spPr>
          <a:xfrm>
            <a:off x="2476980" y="6222579"/>
            <a:ext cx="615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Each MCNP run was 1E8 ‘histories’ and took 80 minutes per run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C8EE3C-5A61-4883-ABB0-039DF19954A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37663">
            <a:off x="1294697" y="5877153"/>
            <a:ext cx="1034893" cy="85907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F4A301-4181-405F-A219-8990169AE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8</a:t>
            </a:fld>
            <a:endParaRPr lang="en-GB"/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F6686A-7CAA-4419-96FA-CFC6776BD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35" y="2349146"/>
            <a:ext cx="9918034" cy="346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71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66387D2-7055-4831-A866-C06FD8C031F3}"/>
              </a:ext>
            </a:extLst>
          </p:cNvPr>
          <p:cNvSpPr txBox="1">
            <a:spLocks/>
          </p:cNvSpPr>
          <p:nvPr/>
        </p:nvSpPr>
        <p:spPr>
          <a:xfrm>
            <a:off x="899936" y="1995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Comparison with MCNP6.2/ICRU 95 skin tissue phantom</a:t>
            </a:r>
            <a:endParaRPr lang="en-GB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65E0C6-0017-45C3-8F04-A76BDF846FEF}"/>
              </a:ext>
            </a:extLst>
          </p:cNvPr>
          <p:cNvSpPr txBox="1"/>
          <p:nvPr/>
        </p:nvSpPr>
        <p:spPr>
          <a:xfrm>
            <a:off x="1513489" y="1468503"/>
            <a:ext cx="8749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10 MBq Sr-90 point source dose rate (µ</a:t>
            </a:r>
            <a:r>
              <a:rPr lang="en-US" sz="2400" dirty="0" err="1"/>
              <a:t>Sv</a:t>
            </a:r>
            <a:r>
              <a:rPr lang="en-US" sz="2400" dirty="0"/>
              <a:t>/h) (Emax 0.546 MeV)</a:t>
            </a:r>
            <a:br>
              <a:rPr lang="en-US" sz="2400" dirty="0"/>
            </a:br>
            <a:r>
              <a:rPr lang="en-US" sz="2400" dirty="0"/>
              <a:t>[Dose: Hp(0.07)]</a:t>
            </a:r>
          </a:p>
          <a:p>
            <a:pPr algn="ctr"/>
            <a:endParaRPr lang="en-GB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5F7081-BD5D-4E95-BD27-E14EF557E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9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540D7C-94E9-410B-895C-9BD1A7BF2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780" y="2368149"/>
            <a:ext cx="9874841" cy="35193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8B601D1-6D1C-47FA-805C-6C0A589AAA36}"/>
              </a:ext>
            </a:extLst>
          </p:cNvPr>
          <p:cNvSpPr txBox="1">
            <a:spLocks/>
          </p:cNvSpPr>
          <p:nvPr/>
        </p:nvSpPr>
        <p:spPr>
          <a:xfrm>
            <a:off x="899936" y="1995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Comparison with MCNP6.2/ICRU 95 skin tissue phantom</a:t>
            </a:r>
            <a:endParaRPr lang="en-GB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E71BC2-C40F-4B1A-9B4F-9F1A52C2B39F}"/>
              </a:ext>
            </a:extLst>
          </p:cNvPr>
          <p:cNvSpPr txBox="1"/>
          <p:nvPr/>
        </p:nvSpPr>
        <p:spPr>
          <a:xfrm>
            <a:off x="1752935" y="1603237"/>
            <a:ext cx="82473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10 MBq P-33 point source dose rate (µ</a:t>
            </a:r>
            <a:r>
              <a:rPr lang="en-US" sz="2400" dirty="0" err="1"/>
              <a:t>Sv</a:t>
            </a:r>
            <a:r>
              <a:rPr lang="en-US" sz="2400" dirty="0"/>
              <a:t>/h) (Emax 0.2485 MeV)</a:t>
            </a:r>
            <a:br>
              <a:rPr lang="en-US" sz="2400" dirty="0"/>
            </a:br>
            <a:r>
              <a:rPr lang="en-US" sz="2400" dirty="0"/>
              <a:t>[Dose: Hp(0.07)]</a:t>
            </a:r>
            <a:endParaRPr lang="en-GB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6B2B59-586F-4649-88A0-9CC95EA74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10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36EC6E-F90C-4064-B1DF-7BF4F6F9E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794" y="2569029"/>
            <a:ext cx="9232272" cy="247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842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A157B-37D3-49EC-81B9-4E3A05A1A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5807" y="396656"/>
            <a:ext cx="8571186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Conclusion - they are all iffy. They mostly underestimate based on M.C./ICRU95, often by well over 40%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65EA3-FD4E-4DCB-8599-F179CAF73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4876" y="2097439"/>
            <a:ext cx="8113986" cy="504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Which is often all you need, </a:t>
            </a:r>
            <a:r>
              <a:rPr lang="en-US" dirty="0" err="1"/>
              <a:t>eg</a:t>
            </a:r>
            <a:r>
              <a:rPr lang="en-US" dirty="0"/>
              <a:t> a ball-park figure.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E56C4F-9ACA-4FD8-BAFF-AF5F6BDF3D1C}"/>
              </a:ext>
            </a:extLst>
          </p:cNvPr>
          <p:cNvSpPr txBox="1"/>
          <p:nvPr/>
        </p:nvSpPr>
        <p:spPr>
          <a:xfrm>
            <a:off x="5403273" y="3570889"/>
            <a:ext cx="6672661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But -</a:t>
            </a:r>
            <a:r>
              <a:rPr lang="en-US" sz="2400" dirty="0"/>
              <a:t> sometimes you need better when it comes to: </a:t>
            </a:r>
            <a:br>
              <a:rPr lang="en-US" sz="2400" dirty="0"/>
            </a:br>
            <a:r>
              <a:rPr lang="en-US" sz="2400" dirty="0"/>
              <a:t>- calculating what you need for shielding </a:t>
            </a:r>
          </a:p>
          <a:p>
            <a:r>
              <a:rPr lang="en-US" sz="2400" dirty="0"/>
              <a:t>- evaluating different working arrangements </a:t>
            </a:r>
          </a:p>
          <a:p>
            <a:r>
              <a:rPr lang="en-US" sz="2400" dirty="0"/>
              <a:t>- retrospective dose estimations </a:t>
            </a:r>
            <a:br>
              <a:rPr lang="en-US" sz="2400" dirty="0"/>
            </a:br>
            <a:r>
              <a:rPr lang="en-US" sz="2400" dirty="0"/>
              <a:t>.. and so on</a:t>
            </a:r>
            <a:endParaRPr lang="en-GB" sz="2400" dirty="0"/>
          </a:p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1F50-1CFF-450B-B610-17444C4C1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008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31D8E-75EE-48DC-9EB7-EA38BF3E2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15797" cy="1715287"/>
          </a:xfrm>
        </p:spPr>
        <p:txBody>
          <a:bodyPr>
            <a:normAutofit/>
          </a:bodyPr>
          <a:lstStyle/>
          <a:p>
            <a:r>
              <a:rPr lang="en-US" dirty="0"/>
              <a:t>A proposal for an easy-to-use but more reliable algorithm (say aspiration of  ~ 10% within M.C. estimates)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37BC7-5AF2-4500-A5A1-74D289D16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5362" y="2526078"/>
            <a:ext cx="7125730" cy="1307492"/>
          </a:xfrm>
          <a:custGeom>
            <a:avLst/>
            <a:gdLst>
              <a:gd name="connsiteX0" fmla="*/ 0 w 7125730"/>
              <a:gd name="connsiteY0" fmla="*/ 0 h 1307492"/>
              <a:gd name="connsiteX1" fmla="*/ 380039 w 7125730"/>
              <a:gd name="connsiteY1" fmla="*/ 0 h 1307492"/>
              <a:gd name="connsiteX2" fmla="*/ 1045107 w 7125730"/>
              <a:gd name="connsiteY2" fmla="*/ 0 h 1307492"/>
              <a:gd name="connsiteX3" fmla="*/ 1567661 w 7125730"/>
              <a:gd name="connsiteY3" fmla="*/ 0 h 1307492"/>
              <a:gd name="connsiteX4" fmla="*/ 2161471 w 7125730"/>
              <a:gd name="connsiteY4" fmla="*/ 0 h 1307492"/>
              <a:gd name="connsiteX5" fmla="*/ 2897797 w 7125730"/>
              <a:gd name="connsiteY5" fmla="*/ 0 h 1307492"/>
              <a:gd name="connsiteX6" fmla="*/ 3349093 w 7125730"/>
              <a:gd name="connsiteY6" fmla="*/ 0 h 1307492"/>
              <a:gd name="connsiteX7" fmla="*/ 4014161 w 7125730"/>
              <a:gd name="connsiteY7" fmla="*/ 0 h 1307492"/>
              <a:gd name="connsiteX8" fmla="*/ 4465457 w 7125730"/>
              <a:gd name="connsiteY8" fmla="*/ 0 h 1307492"/>
              <a:gd name="connsiteX9" fmla="*/ 5059268 w 7125730"/>
              <a:gd name="connsiteY9" fmla="*/ 0 h 1307492"/>
              <a:gd name="connsiteX10" fmla="*/ 5724336 w 7125730"/>
              <a:gd name="connsiteY10" fmla="*/ 0 h 1307492"/>
              <a:gd name="connsiteX11" fmla="*/ 6104375 w 7125730"/>
              <a:gd name="connsiteY11" fmla="*/ 0 h 1307492"/>
              <a:gd name="connsiteX12" fmla="*/ 6484414 w 7125730"/>
              <a:gd name="connsiteY12" fmla="*/ 0 h 1307492"/>
              <a:gd name="connsiteX13" fmla="*/ 7125730 w 7125730"/>
              <a:gd name="connsiteY13" fmla="*/ 0 h 1307492"/>
              <a:gd name="connsiteX14" fmla="*/ 7125730 w 7125730"/>
              <a:gd name="connsiteY14" fmla="*/ 435831 h 1307492"/>
              <a:gd name="connsiteX15" fmla="*/ 7125730 w 7125730"/>
              <a:gd name="connsiteY15" fmla="*/ 884736 h 1307492"/>
              <a:gd name="connsiteX16" fmla="*/ 7125730 w 7125730"/>
              <a:gd name="connsiteY16" fmla="*/ 1307492 h 1307492"/>
              <a:gd name="connsiteX17" fmla="*/ 6460662 w 7125730"/>
              <a:gd name="connsiteY17" fmla="*/ 1307492 h 1307492"/>
              <a:gd name="connsiteX18" fmla="*/ 5795594 w 7125730"/>
              <a:gd name="connsiteY18" fmla="*/ 1307492 h 1307492"/>
              <a:gd name="connsiteX19" fmla="*/ 5201783 w 7125730"/>
              <a:gd name="connsiteY19" fmla="*/ 1307492 h 1307492"/>
              <a:gd name="connsiteX20" fmla="*/ 4465457 w 7125730"/>
              <a:gd name="connsiteY20" fmla="*/ 1307492 h 1307492"/>
              <a:gd name="connsiteX21" fmla="*/ 3729132 w 7125730"/>
              <a:gd name="connsiteY21" fmla="*/ 1307492 h 1307492"/>
              <a:gd name="connsiteX22" fmla="*/ 3064064 w 7125730"/>
              <a:gd name="connsiteY22" fmla="*/ 1307492 h 1307492"/>
              <a:gd name="connsiteX23" fmla="*/ 2398996 w 7125730"/>
              <a:gd name="connsiteY23" fmla="*/ 1307492 h 1307492"/>
              <a:gd name="connsiteX24" fmla="*/ 1733928 w 7125730"/>
              <a:gd name="connsiteY24" fmla="*/ 1307492 h 1307492"/>
              <a:gd name="connsiteX25" fmla="*/ 1282631 w 7125730"/>
              <a:gd name="connsiteY25" fmla="*/ 1307492 h 1307492"/>
              <a:gd name="connsiteX26" fmla="*/ 546306 w 7125730"/>
              <a:gd name="connsiteY26" fmla="*/ 1307492 h 1307492"/>
              <a:gd name="connsiteX27" fmla="*/ 0 w 7125730"/>
              <a:gd name="connsiteY27" fmla="*/ 1307492 h 1307492"/>
              <a:gd name="connsiteX28" fmla="*/ 0 w 7125730"/>
              <a:gd name="connsiteY28" fmla="*/ 910886 h 1307492"/>
              <a:gd name="connsiteX29" fmla="*/ 0 w 7125730"/>
              <a:gd name="connsiteY29" fmla="*/ 461981 h 1307492"/>
              <a:gd name="connsiteX30" fmla="*/ 0 w 7125730"/>
              <a:gd name="connsiteY30" fmla="*/ 0 h 1307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7125730" h="1307492" fill="none" extrusionOk="0">
                <a:moveTo>
                  <a:pt x="0" y="0"/>
                </a:moveTo>
                <a:cubicBezTo>
                  <a:pt x="131889" y="-32844"/>
                  <a:pt x="262258" y="4010"/>
                  <a:pt x="380039" y="0"/>
                </a:cubicBezTo>
                <a:cubicBezTo>
                  <a:pt x="497820" y="-4010"/>
                  <a:pt x="740236" y="62123"/>
                  <a:pt x="1045107" y="0"/>
                </a:cubicBezTo>
                <a:cubicBezTo>
                  <a:pt x="1349978" y="-62123"/>
                  <a:pt x="1411500" y="24906"/>
                  <a:pt x="1567661" y="0"/>
                </a:cubicBezTo>
                <a:cubicBezTo>
                  <a:pt x="1723822" y="-24906"/>
                  <a:pt x="1994543" y="36276"/>
                  <a:pt x="2161471" y="0"/>
                </a:cubicBezTo>
                <a:cubicBezTo>
                  <a:pt x="2328399" y="-36276"/>
                  <a:pt x="2544338" y="57039"/>
                  <a:pt x="2897797" y="0"/>
                </a:cubicBezTo>
                <a:cubicBezTo>
                  <a:pt x="3251256" y="-57039"/>
                  <a:pt x="3131972" y="22735"/>
                  <a:pt x="3349093" y="0"/>
                </a:cubicBezTo>
                <a:cubicBezTo>
                  <a:pt x="3566214" y="-22735"/>
                  <a:pt x="3723091" y="50572"/>
                  <a:pt x="4014161" y="0"/>
                </a:cubicBezTo>
                <a:cubicBezTo>
                  <a:pt x="4305231" y="-50572"/>
                  <a:pt x="4266781" y="25189"/>
                  <a:pt x="4465457" y="0"/>
                </a:cubicBezTo>
                <a:cubicBezTo>
                  <a:pt x="4664133" y="-25189"/>
                  <a:pt x="4812397" y="64006"/>
                  <a:pt x="5059268" y="0"/>
                </a:cubicBezTo>
                <a:cubicBezTo>
                  <a:pt x="5306139" y="-64006"/>
                  <a:pt x="5397895" y="39637"/>
                  <a:pt x="5724336" y="0"/>
                </a:cubicBezTo>
                <a:cubicBezTo>
                  <a:pt x="6050777" y="-39637"/>
                  <a:pt x="5974582" y="40078"/>
                  <a:pt x="6104375" y="0"/>
                </a:cubicBezTo>
                <a:cubicBezTo>
                  <a:pt x="6234168" y="-40078"/>
                  <a:pt x="6384028" y="18112"/>
                  <a:pt x="6484414" y="0"/>
                </a:cubicBezTo>
                <a:cubicBezTo>
                  <a:pt x="6584800" y="-18112"/>
                  <a:pt x="6809994" y="75412"/>
                  <a:pt x="7125730" y="0"/>
                </a:cubicBezTo>
                <a:cubicBezTo>
                  <a:pt x="7153058" y="111062"/>
                  <a:pt x="7077151" y="245598"/>
                  <a:pt x="7125730" y="435831"/>
                </a:cubicBezTo>
                <a:cubicBezTo>
                  <a:pt x="7174309" y="626064"/>
                  <a:pt x="7100937" y="753714"/>
                  <a:pt x="7125730" y="884736"/>
                </a:cubicBezTo>
                <a:cubicBezTo>
                  <a:pt x="7150523" y="1015759"/>
                  <a:pt x="7108629" y="1118171"/>
                  <a:pt x="7125730" y="1307492"/>
                </a:cubicBezTo>
                <a:cubicBezTo>
                  <a:pt x="6927293" y="1345908"/>
                  <a:pt x="6654962" y="1245914"/>
                  <a:pt x="6460662" y="1307492"/>
                </a:cubicBezTo>
                <a:cubicBezTo>
                  <a:pt x="6266362" y="1369070"/>
                  <a:pt x="5953126" y="1278601"/>
                  <a:pt x="5795594" y="1307492"/>
                </a:cubicBezTo>
                <a:cubicBezTo>
                  <a:pt x="5638062" y="1336383"/>
                  <a:pt x="5445053" y="1300873"/>
                  <a:pt x="5201783" y="1307492"/>
                </a:cubicBezTo>
                <a:cubicBezTo>
                  <a:pt x="4958513" y="1314111"/>
                  <a:pt x="4691997" y="1263821"/>
                  <a:pt x="4465457" y="1307492"/>
                </a:cubicBezTo>
                <a:cubicBezTo>
                  <a:pt x="4238917" y="1351163"/>
                  <a:pt x="3916282" y="1279588"/>
                  <a:pt x="3729132" y="1307492"/>
                </a:cubicBezTo>
                <a:cubicBezTo>
                  <a:pt x="3541983" y="1335396"/>
                  <a:pt x="3346961" y="1247441"/>
                  <a:pt x="3064064" y="1307492"/>
                </a:cubicBezTo>
                <a:cubicBezTo>
                  <a:pt x="2781167" y="1367543"/>
                  <a:pt x="2631353" y="1250149"/>
                  <a:pt x="2398996" y="1307492"/>
                </a:cubicBezTo>
                <a:cubicBezTo>
                  <a:pt x="2166639" y="1364835"/>
                  <a:pt x="1972959" y="1243480"/>
                  <a:pt x="1733928" y="1307492"/>
                </a:cubicBezTo>
                <a:cubicBezTo>
                  <a:pt x="1494897" y="1371504"/>
                  <a:pt x="1409534" y="1262201"/>
                  <a:pt x="1282631" y="1307492"/>
                </a:cubicBezTo>
                <a:cubicBezTo>
                  <a:pt x="1155728" y="1352783"/>
                  <a:pt x="700041" y="1257479"/>
                  <a:pt x="546306" y="1307492"/>
                </a:cubicBezTo>
                <a:cubicBezTo>
                  <a:pt x="392572" y="1357505"/>
                  <a:pt x="128558" y="1268497"/>
                  <a:pt x="0" y="1307492"/>
                </a:cubicBezTo>
                <a:cubicBezTo>
                  <a:pt x="-19385" y="1145784"/>
                  <a:pt x="43549" y="1098290"/>
                  <a:pt x="0" y="910886"/>
                </a:cubicBezTo>
                <a:cubicBezTo>
                  <a:pt x="-43549" y="723482"/>
                  <a:pt x="7846" y="574503"/>
                  <a:pt x="0" y="461981"/>
                </a:cubicBezTo>
                <a:cubicBezTo>
                  <a:pt x="-7846" y="349459"/>
                  <a:pt x="52401" y="213633"/>
                  <a:pt x="0" y="0"/>
                </a:cubicBezTo>
                <a:close/>
              </a:path>
              <a:path w="7125730" h="1307492" stroke="0" extrusionOk="0">
                <a:moveTo>
                  <a:pt x="0" y="0"/>
                </a:moveTo>
                <a:cubicBezTo>
                  <a:pt x="143011" y="-437"/>
                  <a:pt x="299483" y="29619"/>
                  <a:pt x="522554" y="0"/>
                </a:cubicBezTo>
                <a:cubicBezTo>
                  <a:pt x="745625" y="-29619"/>
                  <a:pt x="791998" y="5672"/>
                  <a:pt x="902592" y="0"/>
                </a:cubicBezTo>
                <a:cubicBezTo>
                  <a:pt x="1013186" y="-5672"/>
                  <a:pt x="1378370" y="26312"/>
                  <a:pt x="1638918" y="0"/>
                </a:cubicBezTo>
                <a:cubicBezTo>
                  <a:pt x="1899466" y="-26312"/>
                  <a:pt x="1911925" y="29732"/>
                  <a:pt x="2161471" y="0"/>
                </a:cubicBezTo>
                <a:cubicBezTo>
                  <a:pt x="2411017" y="-29732"/>
                  <a:pt x="2461960" y="53029"/>
                  <a:pt x="2684025" y="0"/>
                </a:cubicBezTo>
                <a:cubicBezTo>
                  <a:pt x="2906090" y="-53029"/>
                  <a:pt x="3065558" y="44803"/>
                  <a:pt x="3420350" y="0"/>
                </a:cubicBezTo>
                <a:cubicBezTo>
                  <a:pt x="3775143" y="-44803"/>
                  <a:pt x="3679366" y="48350"/>
                  <a:pt x="3871647" y="0"/>
                </a:cubicBezTo>
                <a:cubicBezTo>
                  <a:pt x="4063928" y="-48350"/>
                  <a:pt x="4266725" y="79092"/>
                  <a:pt x="4607972" y="0"/>
                </a:cubicBezTo>
                <a:cubicBezTo>
                  <a:pt x="4949219" y="-79092"/>
                  <a:pt x="5069326" y="76292"/>
                  <a:pt x="5344298" y="0"/>
                </a:cubicBezTo>
                <a:cubicBezTo>
                  <a:pt x="5619270" y="-76292"/>
                  <a:pt x="5645279" y="51475"/>
                  <a:pt x="5938108" y="0"/>
                </a:cubicBezTo>
                <a:cubicBezTo>
                  <a:pt x="6230937" y="-51475"/>
                  <a:pt x="6778701" y="47569"/>
                  <a:pt x="7125730" y="0"/>
                </a:cubicBezTo>
                <a:cubicBezTo>
                  <a:pt x="7164537" y="161199"/>
                  <a:pt x="7104229" y="276079"/>
                  <a:pt x="7125730" y="422756"/>
                </a:cubicBezTo>
                <a:cubicBezTo>
                  <a:pt x="7147231" y="569433"/>
                  <a:pt x="7092219" y="645318"/>
                  <a:pt x="7125730" y="819362"/>
                </a:cubicBezTo>
                <a:cubicBezTo>
                  <a:pt x="7159241" y="993406"/>
                  <a:pt x="7074946" y="1130391"/>
                  <a:pt x="7125730" y="1307492"/>
                </a:cubicBezTo>
                <a:cubicBezTo>
                  <a:pt x="6904399" y="1368867"/>
                  <a:pt x="6788629" y="1237486"/>
                  <a:pt x="6531919" y="1307492"/>
                </a:cubicBezTo>
                <a:cubicBezTo>
                  <a:pt x="6275209" y="1377498"/>
                  <a:pt x="6101861" y="1249058"/>
                  <a:pt x="5938108" y="1307492"/>
                </a:cubicBezTo>
                <a:cubicBezTo>
                  <a:pt x="5774355" y="1365926"/>
                  <a:pt x="5412869" y="1240737"/>
                  <a:pt x="5201783" y="1307492"/>
                </a:cubicBezTo>
                <a:cubicBezTo>
                  <a:pt x="4990697" y="1374247"/>
                  <a:pt x="4764967" y="1254064"/>
                  <a:pt x="4607972" y="1307492"/>
                </a:cubicBezTo>
                <a:cubicBezTo>
                  <a:pt x="4450977" y="1360920"/>
                  <a:pt x="4306601" y="1276933"/>
                  <a:pt x="4227933" y="1307492"/>
                </a:cubicBezTo>
                <a:cubicBezTo>
                  <a:pt x="4149265" y="1338051"/>
                  <a:pt x="3967946" y="1262170"/>
                  <a:pt x="3776637" y="1307492"/>
                </a:cubicBezTo>
                <a:cubicBezTo>
                  <a:pt x="3585328" y="1352814"/>
                  <a:pt x="3309826" y="1277769"/>
                  <a:pt x="3040311" y="1307492"/>
                </a:cubicBezTo>
                <a:cubicBezTo>
                  <a:pt x="2770796" y="1337215"/>
                  <a:pt x="2670902" y="1303615"/>
                  <a:pt x="2446501" y="1307492"/>
                </a:cubicBezTo>
                <a:cubicBezTo>
                  <a:pt x="2222100" y="1311369"/>
                  <a:pt x="2194704" y="1285633"/>
                  <a:pt x="1995204" y="1307492"/>
                </a:cubicBezTo>
                <a:cubicBezTo>
                  <a:pt x="1795704" y="1329351"/>
                  <a:pt x="1633719" y="1298204"/>
                  <a:pt x="1401394" y="1307492"/>
                </a:cubicBezTo>
                <a:cubicBezTo>
                  <a:pt x="1169069" y="1316780"/>
                  <a:pt x="1168858" y="1300414"/>
                  <a:pt x="1021355" y="1307492"/>
                </a:cubicBezTo>
                <a:cubicBezTo>
                  <a:pt x="873852" y="1314570"/>
                  <a:pt x="771404" y="1291307"/>
                  <a:pt x="641316" y="1307492"/>
                </a:cubicBezTo>
                <a:cubicBezTo>
                  <a:pt x="511228" y="1323677"/>
                  <a:pt x="190089" y="1283936"/>
                  <a:pt x="0" y="1307492"/>
                </a:cubicBezTo>
                <a:cubicBezTo>
                  <a:pt x="-14319" y="1122077"/>
                  <a:pt x="33696" y="1087381"/>
                  <a:pt x="0" y="897811"/>
                </a:cubicBezTo>
                <a:cubicBezTo>
                  <a:pt x="-33696" y="708241"/>
                  <a:pt x="46024" y="665188"/>
                  <a:pt x="0" y="435831"/>
                </a:cubicBezTo>
                <a:cubicBezTo>
                  <a:pt x="-46024" y="206474"/>
                  <a:pt x="41870" y="173621"/>
                  <a:pt x="0" y="0"/>
                </a:cubicBezTo>
                <a:close/>
              </a:path>
            </a:pathLst>
          </a:custGeom>
          <a:ln w="47625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Scribble/>
                  </ask:type>
                </ask:lineSketchStyleProps>
              </a:ext>
            </a:extLst>
          </a:ln>
        </p:spPr>
        <p:txBody>
          <a:bodyPr tIns="180000">
            <a:normAutofit/>
          </a:bodyPr>
          <a:lstStyle/>
          <a:p>
            <a:pPr marL="0" indent="0" algn="ctr">
              <a:buNone/>
            </a:pPr>
            <a:r>
              <a:rPr lang="en-US" dirty="0"/>
              <a:t>Multiply the fluence rate at the skin surface by the fluence-to-dose coefficient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00366B-6FAC-445C-AC2E-EE88B199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1250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31D8E-75EE-48DC-9EB7-EA38BF3E2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03544"/>
          </a:xfrm>
        </p:spPr>
        <p:txBody>
          <a:bodyPr/>
          <a:lstStyle/>
          <a:p>
            <a:r>
              <a:rPr lang="en-US" dirty="0"/>
              <a:t>B. Break it down into 6 steps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37BC7-5AF2-4500-A5A1-74D289D16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8467" y="5846543"/>
            <a:ext cx="4764512" cy="64633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Add up all the energy-interval absorbed dose rates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073128-B160-4FE7-9338-E2EE47E97BF5}"/>
              </a:ext>
            </a:extLst>
          </p:cNvPr>
          <p:cNvSpPr txBox="1"/>
          <p:nvPr/>
        </p:nvSpPr>
        <p:spPr>
          <a:xfrm>
            <a:off x="1308467" y="1333899"/>
            <a:ext cx="7089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Calculate the geometry factor into 1 cm</a:t>
            </a:r>
            <a:r>
              <a:rPr lang="en-US" sz="2400" baseline="30000" dirty="0"/>
              <a:t>2</a:t>
            </a:r>
            <a:r>
              <a:rPr lang="en-US" sz="2400" dirty="0"/>
              <a:t> of skin at </a:t>
            </a:r>
            <a:r>
              <a:rPr lang="en-US" sz="2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/>
              <a:t> cm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23D97B-EDD3-4C69-A46B-820AB3581944}"/>
              </a:ext>
            </a:extLst>
          </p:cNvPr>
          <p:cNvSpPr txBox="1"/>
          <p:nvPr/>
        </p:nvSpPr>
        <p:spPr>
          <a:xfrm>
            <a:off x="1308467" y="1993460"/>
            <a:ext cx="8117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a narrow energy interval, estimate the electron energy remaining at the skin surface</a:t>
            </a:r>
            <a:endParaRPr lang="en-GB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B27C71-EF05-4DBF-B989-06A6A95CC386}"/>
              </a:ext>
            </a:extLst>
          </p:cNvPr>
          <p:cNvSpPr txBox="1"/>
          <p:nvPr/>
        </p:nvSpPr>
        <p:spPr>
          <a:xfrm>
            <a:off x="1308467" y="3010487"/>
            <a:ext cx="79541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Use the fluence-to-dose coefficient to find the absorbed dose of the electron into 1 cm</a:t>
            </a:r>
            <a:r>
              <a:rPr lang="en-US" sz="2400" baseline="30000" dirty="0"/>
              <a:t>2</a:t>
            </a:r>
            <a:r>
              <a:rPr lang="en-US" sz="2400" dirty="0"/>
              <a:t> of skin </a:t>
            </a:r>
          </a:p>
          <a:p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9CD26B-F191-4020-9F5E-95B9433E7B9D}"/>
              </a:ext>
            </a:extLst>
          </p:cNvPr>
          <p:cNvSpPr txBox="1"/>
          <p:nvPr/>
        </p:nvSpPr>
        <p:spPr>
          <a:xfrm>
            <a:off x="1308467" y="3957418"/>
            <a:ext cx="58719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Multiply by the number of electrons/second incident on the 1 cm</a:t>
            </a:r>
            <a:r>
              <a:rPr lang="en-US" sz="2400" baseline="30000" dirty="0"/>
              <a:t>2</a:t>
            </a:r>
            <a:r>
              <a:rPr lang="en-US" sz="2400" dirty="0"/>
              <a:t> of skin</a:t>
            </a:r>
            <a:endParaRPr lang="en-GB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4E49A9-8657-45E2-8FD2-9E712A860A75}"/>
              </a:ext>
            </a:extLst>
          </p:cNvPr>
          <p:cNvSpPr txBox="1"/>
          <p:nvPr/>
        </p:nvSpPr>
        <p:spPr>
          <a:xfrm>
            <a:off x="1308467" y="5018995"/>
            <a:ext cx="51942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 that for all the beta energy spectrum</a:t>
            </a:r>
          </a:p>
          <a:p>
            <a:endParaRPr lang="en-GB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011B0-6E42-4554-81A9-168602BA2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7029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31D8E-75EE-48DC-9EB7-EA38BF3E2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4016" y="761452"/>
            <a:ext cx="6675454" cy="1325563"/>
          </a:xfrm>
        </p:spPr>
        <p:txBody>
          <a:bodyPr/>
          <a:lstStyle/>
          <a:p>
            <a:r>
              <a:rPr lang="en-US" dirty="0"/>
              <a:t>Step 1. Calculate the geometry factor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CAC242D-C6B9-43EA-9D05-2A353E4AF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4941" y="3027387"/>
            <a:ext cx="5257799" cy="54708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Electrons have tortuous paths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5FB0B5-206C-448F-8D70-52B42CA8E8B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03" y="590204"/>
            <a:ext cx="4526208" cy="59685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C8CF58-9E79-4ED0-9E61-201CAC2C14AB}"/>
              </a:ext>
            </a:extLst>
          </p:cNvPr>
          <p:cNvSpPr txBox="1"/>
          <p:nvPr/>
        </p:nvSpPr>
        <p:spPr>
          <a:xfrm rot="16200000">
            <a:off x="83672" y="3251307"/>
            <a:ext cx="16787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Monoenergetic </a:t>
            </a:r>
          </a:p>
          <a:p>
            <a:pPr algn="ctr"/>
            <a:r>
              <a:rPr lang="en-US" dirty="0"/>
              <a:t>source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802DAB-A8C6-4550-A08E-B21978B48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3543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D7617-2656-4A1F-B94F-C6319D8AF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However ………………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6DB4BD3-29CA-40A0-89C8-91A8697374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29995" y="1749343"/>
                <a:ext cx="7141779" cy="28143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Worst beta deflections happen late.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So for monoenergetic electrons, if you are not near the range end, the geometry factor for a one sq cm area at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  <a:r>
                  <a:rPr lang="en-US" dirty="0" err="1"/>
                  <a:t>metres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≃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l-GR" i="1">
                            <a:latin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6DB4BD3-29CA-40A0-89C8-91A869737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9995" y="1749343"/>
                <a:ext cx="7141779" cy="2814344"/>
              </a:xfrm>
              <a:prstGeom prst="rect">
                <a:avLst/>
              </a:prstGeom>
              <a:blipFill>
                <a:blip r:embed="rId2"/>
                <a:stretch>
                  <a:fillRect l="-1706" t="-36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C363EC9-1221-4F76-A55D-D2EDEFE1928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9" y="842486"/>
            <a:ext cx="3741974" cy="601551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6F4A47-4F89-43AC-A514-0DD479594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0167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FE906-15D9-4FB2-A7E4-3FD3E54B4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00158"/>
          </a:xfrm>
        </p:spPr>
        <p:txBody>
          <a:bodyPr>
            <a:normAutofit/>
          </a:bodyPr>
          <a:lstStyle/>
          <a:p>
            <a:r>
              <a:rPr lang="en-US" dirty="0"/>
              <a:t>Step 2. For a narrow energy interval, estimate the electron energy remaining at the skin surface</a:t>
            </a:r>
            <a:br>
              <a:rPr lang="en-US" dirty="0"/>
            </a:b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14772-9494-46E4-891B-4805D7BEC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16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10520B-7939-4DA6-B91C-9084E8297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135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7FC2A-B10E-410B-8D80-AB707B235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4022" y="365125"/>
            <a:ext cx="5095702" cy="1325563"/>
          </a:xfrm>
        </p:spPr>
        <p:txBody>
          <a:bodyPr/>
          <a:lstStyle/>
          <a:p>
            <a:r>
              <a:rPr lang="en-US" dirty="0"/>
              <a:t>Energy – range - energy</a:t>
            </a:r>
            <a:endParaRPr lang="en-GB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9995EDC-1EC6-4F22-8F05-B7A2A78C8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08" y="1886258"/>
            <a:ext cx="10973508" cy="4123843"/>
          </a:xfr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E4A0E73-40EC-4DEA-8775-5DCE4AE0E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973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324214-7A5A-4A55-BE13-0D327D098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54894"/>
            <a:ext cx="4915711" cy="7856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059F7E-E510-4366-87E4-0839A570F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701" y="2870992"/>
            <a:ext cx="4085617" cy="75341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1B84C8F-12F2-40D8-A284-61525290E60C}"/>
              </a:ext>
            </a:extLst>
          </p:cNvPr>
          <p:cNvSpPr txBox="1"/>
          <p:nvPr/>
        </p:nvSpPr>
        <p:spPr>
          <a:xfrm>
            <a:off x="2351645" y="3655370"/>
            <a:ext cx="1675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 &lt; 2.5 MeV</a:t>
            </a:r>
            <a:endParaRPr lang="en-GB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D9A627-3097-4522-B4C5-5979654201C8}"/>
              </a:ext>
            </a:extLst>
          </p:cNvPr>
          <p:cNvSpPr txBox="1"/>
          <p:nvPr/>
        </p:nvSpPr>
        <p:spPr>
          <a:xfrm>
            <a:off x="7036631" y="3640505"/>
            <a:ext cx="18293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 &gt;= 2.5 MeV</a:t>
            </a:r>
            <a:endParaRPr lang="en-GB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F3DE4A-EF93-45F7-BE77-8BA2DD178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18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75CB630-B0F8-461A-8C5A-74C93B932E08}"/>
              </a:ext>
            </a:extLst>
          </p:cNvPr>
          <p:cNvGrpSpPr/>
          <p:nvPr/>
        </p:nvGrpSpPr>
        <p:grpSpPr>
          <a:xfrm>
            <a:off x="731520" y="1654212"/>
            <a:ext cx="10515675" cy="4759603"/>
            <a:chOff x="731520" y="1654212"/>
            <a:chExt cx="10515675" cy="4759603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1098F54-961E-4D85-B871-922A925473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1520" y="4540782"/>
              <a:ext cx="10515675" cy="187303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03AAFBD-009D-4114-9120-53518F47A951}"/>
                </a:ext>
              </a:extLst>
            </p:cNvPr>
            <p:cNvSpPr txBox="1"/>
            <p:nvPr/>
          </p:nvSpPr>
          <p:spPr>
            <a:xfrm>
              <a:off x="838200" y="1654212"/>
              <a:ext cx="548355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111111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and turn out to be invertible</a:t>
              </a:r>
              <a:endParaRPr lang="en-GB" sz="3600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91011DA-D3D8-44CF-84F0-5CC9B36FDAC9}"/>
              </a:ext>
            </a:extLst>
          </p:cNvPr>
          <p:cNvSpPr txBox="1"/>
          <p:nvPr/>
        </p:nvSpPr>
        <p:spPr>
          <a:xfrm>
            <a:off x="838200" y="714431"/>
            <a:ext cx="98811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Katz &amp; Penfold range equations are well-established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509164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D8C78-43F1-415C-8589-CC572E0C7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4332" y="381750"/>
            <a:ext cx="8287965" cy="1325563"/>
          </a:xfrm>
        </p:spPr>
        <p:txBody>
          <a:bodyPr/>
          <a:lstStyle/>
          <a:p>
            <a:r>
              <a:rPr lang="en-US" dirty="0"/>
              <a:t>But keep in mind there is energy straggling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45CFDC-6330-4D21-AE3B-AAECED31D995}"/>
              </a:ext>
            </a:extLst>
          </p:cNvPr>
          <p:cNvSpPr txBox="1"/>
          <p:nvPr/>
        </p:nvSpPr>
        <p:spPr>
          <a:xfrm>
            <a:off x="4738254" y="1970117"/>
            <a:ext cx="63010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electrons, initially monoenergetic, are not monoenergetic at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/>
              <a:t>. They have a spread of energy.</a:t>
            </a:r>
            <a:endParaRPr lang="en-GB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9474F4-A820-4472-B134-E6631D025C9A}"/>
              </a:ext>
            </a:extLst>
          </p:cNvPr>
          <p:cNvSpPr txBox="1"/>
          <p:nvPr/>
        </p:nvSpPr>
        <p:spPr>
          <a:xfrm>
            <a:off x="4738254" y="3836368"/>
            <a:ext cx="69787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Ignoring this will cause a dose-rate under-estimation.</a:t>
            </a:r>
            <a:endParaRPr lang="en-GB" sz="280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452A0FD-9C83-4387-9328-25465691D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19</a:t>
            </a:fld>
            <a:endParaRPr lang="en-GB"/>
          </a:p>
        </p:txBody>
      </p:sp>
      <p:pic>
        <p:nvPicPr>
          <p:cNvPr id="5" name="Picture 4" descr="A diagram of a red object with a black circle and a black line&#10;&#10;AI-generated content may be incorrect.">
            <a:extLst>
              <a:ext uri="{FF2B5EF4-FFF2-40B4-BE49-F238E27FC236}">
                <a16:creationId xmlns:a16="http://schemas.microsoft.com/office/drawing/2014/main" id="{165263DD-6662-4E02-B4B3-F1A25136A4D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" y="0"/>
            <a:ext cx="30758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7163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B6B0A-AEAC-4D1C-9D19-28D321A7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70628" cy="1325563"/>
          </a:xfrm>
        </p:spPr>
        <p:txBody>
          <a:bodyPr/>
          <a:lstStyle/>
          <a:p>
            <a:r>
              <a:rPr lang="en-US" dirty="0"/>
              <a:t>Step 3. Fluence-to-dose coefficients (skin, ICRP95)</a:t>
            </a:r>
            <a:endParaRPr lang="en-GB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DA650C-EDF1-41C1-AA82-3DE2491541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1344864"/>
              </p:ext>
            </p:extLst>
          </p:nvPr>
        </p:nvGraphicFramePr>
        <p:xfrm>
          <a:off x="132562" y="1525051"/>
          <a:ext cx="7307580" cy="4785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622354C-6EE3-4A6B-B98B-EF097BC294E9}"/>
              </a:ext>
            </a:extLst>
          </p:cNvPr>
          <p:cNvSpPr txBox="1"/>
          <p:nvPr/>
        </p:nvSpPr>
        <p:spPr>
          <a:xfrm>
            <a:off x="7612380" y="2800220"/>
            <a:ext cx="44470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Using the ICRU95 slab phantom with MCNP6.2 produced many more data points (blue)</a:t>
            </a:r>
            <a:endParaRPr lang="en-GB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14E14B-236F-404E-A3FE-B87C49E17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5036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6F787-8ACC-463D-8130-FBE76930E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351"/>
          </a:xfrm>
        </p:spPr>
        <p:txBody>
          <a:bodyPr>
            <a:normAutofit fontScale="90000"/>
          </a:bodyPr>
          <a:lstStyle/>
          <a:p>
            <a:r>
              <a:rPr lang="en-US" dirty="0"/>
              <a:t>Step 4. Multiply by the number of electrons/second incident on the 1 cm</a:t>
            </a:r>
            <a:r>
              <a:rPr lang="en-US" baseline="30000" dirty="0"/>
              <a:t>2</a:t>
            </a:r>
            <a:r>
              <a:rPr lang="en-US" dirty="0"/>
              <a:t> of skin – ICRP-07.BET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90168-7708-49F1-BE81-46A9E1A6C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9327" y="2138173"/>
            <a:ext cx="5840055" cy="8803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From ICRP-107.  Spectral probability density functions for 955 beta radionuclides</a:t>
            </a:r>
            <a:endParaRPr lang="en-GB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BE2321-482F-4323-8CF5-BE290C2B9E2F}"/>
              </a:ext>
            </a:extLst>
          </p:cNvPr>
          <p:cNvSpPr txBox="1"/>
          <p:nvPr/>
        </p:nvSpPr>
        <p:spPr>
          <a:xfrm>
            <a:off x="5839327" y="3883877"/>
            <a:ext cx="58400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cs typeface="Arial" panose="020B0604020202020204" pitchFamily="34" charset="0"/>
              </a:rPr>
              <a:t>The probability that a nuclear disintegration produces a beta particle with an initial energy in the range shown by </a:t>
            </a:r>
            <a:r>
              <a:rPr lang="en-US" sz="2400" dirty="0">
                <a:latin typeface="Symbol" panose="05050102010706020507" pitchFamily="18" charset="2"/>
                <a:cs typeface="Arial" panose="020B0604020202020204" pitchFamily="34" charset="0"/>
              </a:rPr>
              <a:t>D</a:t>
            </a:r>
            <a:r>
              <a:rPr lang="en-US" sz="2400" dirty="0">
                <a:cs typeface="Arial" panose="020B0604020202020204" pitchFamily="34" charset="0"/>
              </a:rPr>
              <a:t>E is the area of the shaded part under the graph.    </a:t>
            </a:r>
            <a:endParaRPr lang="en-GB" sz="2400" dirty="0"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4E67E3-28D7-4D7E-9B45-AA6ED0540E9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50" y="1496291"/>
            <a:ext cx="5333307" cy="536170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B7C18-D0F3-461E-B0C8-8ED65E203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227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271FA-4B4E-4F71-B3CB-F1FA71BF2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5&amp;6. Put it all together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4565A-0DF6-4935-85D8-4650A7D29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024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Absorbed dose rate = </a:t>
            </a:r>
          </a:p>
          <a:p>
            <a:pPr marL="0" indent="0">
              <a:buNone/>
            </a:pPr>
            <a:r>
              <a:rPr lang="en-US" dirty="0"/>
              <a:t>       the probability of beta emission at a specific energy interval </a:t>
            </a:r>
          </a:p>
          <a:p>
            <a:pPr marL="0" indent="0">
              <a:buNone/>
            </a:pPr>
            <a:r>
              <a:rPr lang="en-US" dirty="0"/>
              <a:t>	x activity</a:t>
            </a:r>
          </a:p>
          <a:p>
            <a:pPr marL="0" indent="0">
              <a:buNone/>
            </a:pPr>
            <a:r>
              <a:rPr lang="en-US" dirty="0"/>
              <a:t>	   x geometric factor </a:t>
            </a:r>
          </a:p>
          <a:p>
            <a:pPr marL="0" indent="0">
              <a:buNone/>
            </a:pPr>
            <a:r>
              <a:rPr lang="en-US" dirty="0"/>
              <a:t>	      x residual energy at the skin </a:t>
            </a:r>
          </a:p>
          <a:p>
            <a:pPr marL="0" indent="0">
              <a:buNone/>
            </a:pPr>
            <a:r>
              <a:rPr lang="en-US" dirty="0"/>
              <a:t>	         x fluence to dose coefficient for that specific energy interval </a:t>
            </a:r>
          </a:p>
          <a:p>
            <a:pPr marL="0" indent="0">
              <a:buNone/>
            </a:pPr>
            <a:r>
              <a:rPr lang="en-US" dirty="0"/>
              <a:t>summed over all the energy intervals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FB364A-DD0C-479B-940E-3BBE6CE46A6A}"/>
              </a:ext>
            </a:extLst>
          </p:cNvPr>
          <p:cNvSpPr txBox="1"/>
          <p:nvPr/>
        </p:nvSpPr>
        <p:spPr>
          <a:xfrm>
            <a:off x="838200" y="5562972"/>
            <a:ext cx="105934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And for electrons, an absorbed dose of 1 </a:t>
            </a:r>
            <a:r>
              <a:rPr lang="en-GB" sz="2000" dirty="0" err="1"/>
              <a:t>Gy</a:t>
            </a:r>
            <a:r>
              <a:rPr lang="en-GB" sz="2000" dirty="0"/>
              <a:t> into the skin at 50 </a:t>
            </a:r>
            <a:r>
              <a:rPr lang="en-GB" sz="2000" dirty="0">
                <a:latin typeface="Symbol" panose="05050102010706020507" pitchFamily="18" charset="2"/>
              </a:rPr>
              <a:t>m</a:t>
            </a:r>
            <a:r>
              <a:rPr lang="en-GB" sz="2000" dirty="0"/>
              <a:t>m depth in a layer 50 </a:t>
            </a:r>
            <a:r>
              <a:rPr lang="en-GB" sz="2000" dirty="0">
                <a:latin typeface="Symbol" panose="05050102010706020507" pitchFamily="18" charset="2"/>
              </a:rPr>
              <a:t>m</a:t>
            </a:r>
            <a:r>
              <a:rPr lang="en-GB" sz="2000" dirty="0"/>
              <a:t>m thick leads to personal dose equivalent Hp(0.07) of 1 </a:t>
            </a:r>
            <a:r>
              <a:rPr lang="en-GB" sz="2000" dirty="0" err="1"/>
              <a:t>Sv</a:t>
            </a:r>
            <a:endParaRPr lang="en-GB" sz="2000" dirty="0"/>
          </a:p>
          <a:p>
            <a:endParaRPr lang="en-GB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216301-7A7D-414B-9D29-5F0E3DB96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08406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331AE-6AEC-442F-B1B0-3BBF653CB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what about the energy straggle?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7188E-3ABF-4603-8B57-89A158367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60999"/>
            <a:ext cx="10515600" cy="233187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Turns out that for a wide range of beta radionuclides, ignoring the energy straggling caused a remarkably consistent under-estimation by ~ 10% for point sources.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 (optional) empirical energy straggling factor was used to account for this.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A4D470-E223-49FC-837F-59D871503CB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91" y="1183513"/>
            <a:ext cx="5873400" cy="255646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51D4E-0CA7-4376-BE31-3E7548557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782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B3FD1-5776-4AD3-A640-DB8E97A87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BBT results - comparison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D0B579-943D-461E-B087-FA900DB49B81}"/>
              </a:ext>
            </a:extLst>
          </p:cNvPr>
          <p:cNvSpPr txBox="1"/>
          <p:nvPr/>
        </p:nvSpPr>
        <p:spPr>
          <a:xfrm>
            <a:off x="1379483" y="1545884"/>
            <a:ext cx="8623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10 MBq P-32 point source dose rate (µ</a:t>
            </a:r>
            <a:r>
              <a:rPr lang="en-US" sz="2400" dirty="0" err="1"/>
              <a:t>Sv</a:t>
            </a:r>
            <a:r>
              <a:rPr lang="en-US" sz="2400" dirty="0"/>
              <a:t>/h) (Emax 1.7107 MeV) </a:t>
            </a:r>
          </a:p>
          <a:p>
            <a:pPr algn="ctr"/>
            <a:r>
              <a:rPr lang="en-US" sz="2400" dirty="0"/>
              <a:t>[Dose: Hp(0.07)]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71EF14-09E9-48C3-941D-9793C072D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24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E949ED-7819-4D76-AF19-C1C5462318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858" y="2572801"/>
            <a:ext cx="9886523" cy="298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0797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B3FD1-5776-4AD3-A640-DB8E97A87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BBT results - comparison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5D091C-92EB-4C15-8445-E394ACFB947B}"/>
              </a:ext>
            </a:extLst>
          </p:cNvPr>
          <p:cNvSpPr txBox="1"/>
          <p:nvPr/>
        </p:nvSpPr>
        <p:spPr>
          <a:xfrm>
            <a:off x="1056288" y="1508125"/>
            <a:ext cx="87498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10 MBq Sr-90 point source dose rate (µ</a:t>
            </a:r>
            <a:r>
              <a:rPr lang="en-US" sz="2400" dirty="0" err="1"/>
              <a:t>Sv</a:t>
            </a:r>
            <a:r>
              <a:rPr lang="en-US" sz="2400" dirty="0"/>
              <a:t>/h) (Emax 0.546 MeV)</a:t>
            </a:r>
            <a:br>
              <a:rPr lang="en-US" sz="2400" dirty="0"/>
            </a:br>
            <a:r>
              <a:rPr lang="en-US" sz="2400" dirty="0"/>
              <a:t>(Normally incident) Hp(0.07)</a:t>
            </a:r>
            <a:endParaRPr lang="en-GB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5CE2E1-4104-44C3-9C81-7486B8012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25</a:t>
            </a:fld>
            <a:endParaRPr lang="en-GB"/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E3DE89E-498A-4C4E-AA20-ED469AF37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60" y="2488355"/>
            <a:ext cx="10217579" cy="321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1211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B3FD1-5776-4AD3-A640-DB8E97A87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BBT results – comparison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46F356-E567-47FA-9172-6889B2A9E071}"/>
              </a:ext>
            </a:extLst>
          </p:cNvPr>
          <p:cNvSpPr txBox="1"/>
          <p:nvPr/>
        </p:nvSpPr>
        <p:spPr>
          <a:xfrm>
            <a:off x="1626811" y="1619002"/>
            <a:ext cx="82473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10 MBq P-33 point source dose rate (µ</a:t>
            </a:r>
            <a:r>
              <a:rPr lang="en-US" sz="2400" dirty="0" err="1"/>
              <a:t>Sv</a:t>
            </a:r>
            <a:r>
              <a:rPr lang="en-US" sz="2400" dirty="0"/>
              <a:t>/h) (Emax 0.2485 MeV)</a:t>
            </a:r>
            <a:br>
              <a:rPr lang="en-US" sz="2400" dirty="0"/>
            </a:br>
            <a:r>
              <a:rPr lang="en-US" sz="2400" dirty="0"/>
              <a:t>(Normally incident) Hp(0.07)</a:t>
            </a:r>
            <a:endParaRPr lang="en-GB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8788FE-04FA-46DE-9CE9-F7CA69732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26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BCBDEF-9A5D-485C-A69D-99CDA69A5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0" y="2492956"/>
            <a:ext cx="10316780" cy="282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245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1A99-2C58-4FD1-A4A4-55CD38F5B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Extending to disc sources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240BFE-DAFF-479B-981D-BAAE221B3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27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64C5FA-67B1-4B39-8CE8-5CF45811168A}"/>
              </a:ext>
            </a:extLst>
          </p:cNvPr>
          <p:cNvSpPr txBox="1"/>
          <p:nvPr/>
        </p:nvSpPr>
        <p:spPr>
          <a:xfrm>
            <a:off x="589505" y="1690688"/>
            <a:ext cx="11179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Fluence-to-dose coefficient is affected by the angle of beta incidence</a:t>
            </a:r>
          </a:p>
        </p:txBody>
      </p:sp>
      <p:pic>
        <p:nvPicPr>
          <p:cNvPr id="5" name="Picture 4" descr="A diagram of a skin phantom&#10;&#10;AI-generated content may be incorrect.">
            <a:extLst>
              <a:ext uri="{FF2B5EF4-FFF2-40B4-BE49-F238E27FC236}">
                <a16:creationId xmlns:a16="http://schemas.microsoft.com/office/drawing/2014/main" id="{29FC9F71-789F-47BE-8DD0-6B1ADBF4A39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15" y="2945921"/>
            <a:ext cx="10481429" cy="339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9492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1A99-2C58-4FD1-A4A4-55CD38F5B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 source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240BFE-DAFF-479B-981D-BAAE221B3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28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0844E0-05FE-4C3F-B45F-7B941B3AA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336" y="552772"/>
            <a:ext cx="9089495" cy="640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4277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1A99-2C58-4FD1-A4A4-55CD38F5B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 source -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A4971D-4DF7-4FA7-BAF4-4BAF38FF4528}"/>
              </a:ext>
            </a:extLst>
          </p:cNvPr>
          <p:cNvSpPr txBox="1"/>
          <p:nvPr/>
        </p:nvSpPr>
        <p:spPr>
          <a:xfrm>
            <a:off x="332884" y="1690688"/>
            <a:ext cx="619148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disc is treated as annuli. </a:t>
            </a:r>
          </a:p>
          <a:p>
            <a:r>
              <a:rPr lang="en-US" sz="2800" dirty="0"/>
              <a:t>16 smartly-placed samples each with a specific weighting* are used to represent the whole disc very well. </a:t>
            </a:r>
          </a:p>
          <a:p>
            <a:endParaRPr lang="en-US" sz="2800" dirty="0"/>
          </a:p>
          <a:p>
            <a:r>
              <a:rPr lang="en-US" sz="2800" dirty="0"/>
              <a:t>The dose rate from the disc will be the sum of the weighted dose rates from the spot samples.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E5F73A-4410-42CE-B462-4A13B05DF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005" y="3822711"/>
            <a:ext cx="3259485" cy="283758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240BFE-DAFF-479B-981D-BAAE221B3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29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B19C63-C37E-4F8B-A064-7217334F3F2F}"/>
              </a:ext>
            </a:extLst>
          </p:cNvPr>
          <p:cNvSpPr txBox="1"/>
          <p:nvPr/>
        </p:nvSpPr>
        <p:spPr>
          <a:xfrm>
            <a:off x="461319" y="6123543"/>
            <a:ext cx="387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*Gauss-Legendre numerical integration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728E08-4784-40F0-A791-7DAAFDBF6BC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775" y="131808"/>
            <a:ext cx="3539430" cy="353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7550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A2E3A-1AD3-4F9C-9068-5302A0E6D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657" y="0"/>
            <a:ext cx="6583828" cy="923627"/>
          </a:xfrm>
        </p:spPr>
        <p:txBody>
          <a:bodyPr/>
          <a:lstStyle/>
          <a:p>
            <a:r>
              <a:rPr lang="en-GB" dirty="0"/>
              <a:t>Disc tests so far look OK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0BFF8-5722-49B5-9024-552C9133B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30</a:t>
            </a:fld>
            <a:endParaRPr lang="en-GB"/>
          </a:p>
        </p:txBody>
      </p:sp>
      <p:pic>
        <p:nvPicPr>
          <p:cNvPr id="5" name="Picture 4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689C310B-F158-4C89-8E6F-65EF4AE34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459" y="888593"/>
            <a:ext cx="5193816" cy="2872052"/>
          </a:xfrm>
          <a:prstGeom prst="rect">
            <a:avLst/>
          </a:prstGeom>
        </p:spPr>
      </p:pic>
      <p:pic>
        <p:nvPicPr>
          <p:cNvPr id="7" name="Picture 6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CC41EE08-053D-4567-9298-45395DD05E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344" y="897153"/>
            <a:ext cx="5218933" cy="28549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AEF3FD-4C01-48E5-BA77-3C91C38E8F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905" y="3961599"/>
            <a:ext cx="6954629" cy="275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9795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C9FA2-431A-4923-A793-3BABC675E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E: Is this of help to an RP/RPA? 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45BE2-6260-441D-9395-0670CFD49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3426"/>
            <a:ext cx="10515600" cy="32109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Better dose estimates from foreseeable incidents</a:t>
            </a:r>
          </a:p>
          <a:p>
            <a:pPr marL="0" indent="0">
              <a:buNone/>
            </a:pPr>
            <a:r>
              <a:rPr lang="en-US" dirty="0"/>
              <a:t>Have the usual tools under-estimated the dose rates to the extent that it challenges previous decisions?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regulatory justification – the spreadsheet demonstrates and justifies how the dose rate was calculated.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80D039-AE68-4EEE-B503-6D283D3926E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378107">
            <a:off x="482360" y="4472956"/>
            <a:ext cx="1215957" cy="100937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71565-D1C8-459C-8284-8CDDA2496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31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AD6BA8-E485-4286-B00A-55D0F48F9A03}"/>
              </a:ext>
            </a:extLst>
          </p:cNvPr>
          <p:cNvSpPr txBox="1"/>
          <p:nvPr/>
        </p:nvSpPr>
        <p:spPr>
          <a:xfrm>
            <a:off x="5766725" y="5378737"/>
            <a:ext cx="18646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.. so less of </a:t>
            </a:r>
          </a:p>
        </p:txBody>
      </p:sp>
      <p:pic>
        <p:nvPicPr>
          <p:cNvPr id="10" name="Picture 9" descr="A hand with a middle finger pointing up&#10;&#10;AI-generated content may be incorrect.">
            <a:extLst>
              <a:ext uri="{FF2B5EF4-FFF2-40B4-BE49-F238E27FC236}">
                <a16:creationId xmlns:a16="http://schemas.microsoft.com/office/drawing/2014/main" id="{BA94F88A-F673-4E3D-8E8D-6612CF0FE6B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0950" y="4748501"/>
            <a:ext cx="1165634" cy="194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71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47014-1774-4A25-8127-39DF8D386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771" y="190038"/>
            <a:ext cx="3650673" cy="1056351"/>
          </a:xfrm>
        </p:spPr>
        <p:txBody>
          <a:bodyPr>
            <a:normAutofit/>
          </a:bodyPr>
          <a:lstStyle/>
          <a:p>
            <a:r>
              <a:rPr lang="en-US" dirty="0"/>
              <a:t>Known limitations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19C55-34EE-44D5-8906-F5B550821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6582" y="1264078"/>
            <a:ext cx="7403960" cy="5274834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24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The initial </a:t>
            </a:r>
            <a:r>
              <a:rPr lang="en-GB" sz="2400" dirty="0">
                <a:ea typeface="Calibri" panose="020F0502020204030204" pitchFamily="34" charset="0"/>
                <a:cs typeface="Arial" panose="020B0604020202020204" pitchFamily="34" charset="0"/>
              </a:rPr>
              <a:t>assumptions</a:t>
            </a:r>
            <a:r>
              <a:rPr lang="en-GB" sz="24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still apply.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24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The model was designed mainly for medium- and high-energy beta sources at distances greater than 10 cm. Results become </a:t>
            </a:r>
            <a:r>
              <a:rPr lang="en-GB" sz="2400" dirty="0">
                <a:ea typeface="Calibri" panose="020F0502020204030204" pitchFamily="34" charset="0"/>
                <a:cs typeface="Arial" panose="020B0604020202020204" pitchFamily="34" charset="0"/>
              </a:rPr>
              <a:t>un</a:t>
            </a:r>
            <a:r>
              <a:rPr lang="en-GB" sz="24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reliable in other circumstances.</a:t>
            </a:r>
          </a:p>
          <a:p>
            <a:pPr marL="0" indent="0">
              <a:buNone/>
            </a:pPr>
            <a:r>
              <a:rPr lang="en-GB" sz="24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An (optional) empirical factor is used to account for energy straggling. This is an approximation because energy straggling changes with both </a:t>
            </a:r>
            <a:r>
              <a:rPr lang="en-GB" sz="2400" dirty="0">
                <a:ea typeface="Calibri" panose="020F0502020204030204" pitchFamily="34" charset="0"/>
                <a:cs typeface="Arial" panose="020B0604020202020204" pitchFamily="34" charset="0"/>
              </a:rPr>
              <a:t>electron</a:t>
            </a:r>
            <a:r>
              <a:rPr lang="en-GB" sz="24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energy and travel distance, but it does give reasonably good agreement with Monte Carlo estimations.</a:t>
            </a:r>
          </a:p>
          <a:p>
            <a:pPr marL="0" indent="0">
              <a:buNone/>
            </a:pPr>
            <a:r>
              <a:rPr lang="en-GB" sz="24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Positrons are also in the database. I’ve not checked the results yet, so use with caution. </a:t>
            </a:r>
          </a:p>
          <a:p>
            <a:pPr marL="0" indent="0">
              <a:buNone/>
            </a:pPr>
            <a:endParaRPr lang="en-GB" sz="24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A5E93-7D93-42F3-86C3-74A3FF429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3588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A01CA-6BBF-45E0-89BD-214FB6EFC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G: Get a copy?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68EBB-928B-466C-9667-8DE9F6024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826579" cy="4895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Github</a:t>
            </a:r>
            <a:endParaRPr lang="en-US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https://github.com/RHW2026/BBT/releases/download/v1.1/BetaBeyondTen_v1_1.xlsx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Contains:</a:t>
            </a:r>
          </a:p>
          <a:p>
            <a:pPr marL="0" indent="0">
              <a:buNone/>
            </a:pPr>
            <a:r>
              <a:rPr lang="en-US" dirty="0"/>
              <a:t>Spreadsheet designed for Microsoft Excel.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(Progressive web application TBA)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CA801-FBDF-4449-A9A2-0E7F9F8F1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D802E-C813-4103-8795-DEF44102151F}" type="slidenum">
              <a:rPr lang="en-GB" smtClean="0"/>
              <a:t>33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5B76D8-0463-45DD-AA78-7A54663E5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187" y="136525"/>
            <a:ext cx="2957384" cy="20461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115735-F27B-4C8D-A3BD-E0F5BB993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187" y="3325427"/>
            <a:ext cx="2957384" cy="295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6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14223</TotalTime>
  <Words>1503</Words>
  <Application>Microsoft Office PowerPoint</Application>
  <PresentationFormat>Widescreen</PresentationFormat>
  <Paragraphs>162</Paragraphs>
  <Slides>33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Aptos Display</vt:lpstr>
      <vt:lpstr>Arial</vt:lpstr>
      <vt:lpstr>Calibri</vt:lpstr>
      <vt:lpstr>Calibri Light</vt:lpstr>
      <vt:lpstr>Cambria Math</vt:lpstr>
      <vt:lpstr>Symbol</vt:lpstr>
      <vt:lpstr>Times New Roman</vt:lpstr>
      <vt:lpstr>Office Theme</vt:lpstr>
      <vt:lpstr>Microsoft Word Document</vt:lpstr>
      <vt:lpstr>PowerPoint Presentation</vt:lpstr>
      <vt:lpstr>Meeting IRR17 requirements</vt:lpstr>
      <vt:lpstr>How: IRR17 doesn't specify any dose measurement/estimation physics</vt:lpstr>
      <vt:lpstr>So what’s available for straightforward beta-at-a-distance skin-dose prediction [Hp(0.07)] ?</vt:lpstr>
      <vt:lpstr>How good are these prediction methods? </vt:lpstr>
      <vt:lpstr>ICRU95/ICRP Skin tissue (trunk) computational phantom</vt:lpstr>
      <vt:lpstr>Common nuclear particle transport MC toolkits (n.b. they’re not standalone programs)</vt:lpstr>
      <vt:lpstr>PowerPoint Presentation</vt:lpstr>
      <vt:lpstr>PowerPoint Presentation</vt:lpstr>
      <vt:lpstr>PowerPoint Presentation</vt:lpstr>
      <vt:lpstr>Conclusion - they are all iffy. They mostly underestimate based on M.C./ICRU95, often by well over 40% </vt:lpstr>
      <vt:lpstr>A proposal for an easy-to-use but more reliable algorithm (say aspiration of  ~ 10% within M.C. estimates)</vt:lpstr>
      <vt:lpstr>B. Break it down into 6 steps</vt:lpstr>
      <vt:lpstr>Step 1. Calculate the geometry factor</vt:lpstr>
      <vt:lpstr>However ………………</vt:lpstr>
      <vt:lpstr>Step 2. For a narrow energy interval, estimate the electron energy remaining at the skin surface </vt:lpstr>
      <vt:lpstr>Energy – range - energy</vt:lpstr>
      <vt:lpstr>PowerPoint Presentation</vt:lpstr>
      <vt:lpstr>But keep in mind there is energy straggling</vt:lpstr>
      <vt:lpstr>Step 3. Fluence-to-dose coefficients (skin, ICRP95)</vt:lpstr>
      <vt:lpstr>Step 4. Multiply by the number of electrons/second incident on the 1 cm2 of skin – ICRP-07.BET</vt:lpstr>
      <vt:lpstr>Steps 5&amp;6. Put it all together</vt:lpstr>
      <vt:lpstr>But what about the energy straggle?</vt:lpstr>
      <vt:lpstr>BBT results - comparison</vt:lpstr>
      <vt:lpstr>BBT results - comparison</vt:lpstr>
      <vt:lpstr>BBT results – comparison</vt:lpstr>
      <vt:lpstr>Extending to disc sources</vt:lpstr>
      <vt:lpstr>Disc source</vt:lpstr>
      <vt:lpstr>Disc source -</vt:lpstr>
      <vt:lpstr>Disc tests so far look OK</vt:lpstr>
      <vt:lpstr>E: Is this of help to an RP/RPA?  </vt:lpstr>
      <vt:lpstr>Known limitations</vt:lpstr>
      <vt:lpstr>G: Get a copy?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Update from the HERT Working Group on Radiation Safety Culture</dc:title>
  <dc:creator>Ralph Whitcher</dc:creator>
  <cp:lastModifiedBy>-</cp:lastModifiedBy>
  <cp:revision>423</cp:revision>
  <dcterms:created xsi:type="dcterms:W3CDTF">2023-08-18T20:07:16Z</dcterms:created>
  <dcterms:modified xsi:type="dcterms:W3CDTF">2026-09-15T12:30:23Z</dcterms:modified>
</cp:coreProperties>
</file>